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封底" id="{1F5D173C-ABAC-46FF-BC25-8271F7998F5D}">
          <p14:sldIdLst>
            <p14:sldId id="256"/>
          </p14:sldIdLst>
        </p14:section>
        <p14:section name="目录" id="{54A7C723-6A40-4E33-9CE5-944054356D4C}">
          <p14:sldIdLst>
            <p14:sldId id="257"/>
          </p14:sldIdLst>
        </p14:section>
        <p14:section name="章节页" id="{2634D4A2-0370-41A7-ADB5-7BE2A3703C3D}">
          <p14:sldIdLst>
            <p14:sldId id="258"/>
          </p14:sldIdLst>
        </p14:section>
        <p14:section name="二级大纲3" id="{E5D637AD-2690-4F7F-9FBB-2FFD75AFCB67}">
          <p14:sldIdLst>
            <p14:sldId id="259"/>
            <p14:sldId id="260"/>
            <p14:sldId id="261"/>
          </p14:sldIdLst>
        </p14:section>
        <p14:section name="二级大纲2_1数据" id="{21DF422E-1FEC-4114-8F87-F29559EC4997}">
          <p14:sldIdLst>
            <p14:sldId id="262"/>
          </p14:sldIdLst>
        </p14:section>
        <p14:section name="1标题1内容2图" id="{7B0F4947-9075-4D67-92DD-A8955E89E530}">
          <p14:sldIdLst>
            <p14:sldId id="263"/>
            <p14:sldId id="264"/>
            <p14:sldId id="265"/>
            <p14:sldId id="266"/>
            <p14:sldId id="270"/>
          </p14:sldIdLst>
        </p14:section>
        <p14:section name="1标题1内容3图" id="{8C24787C-97EA-4704-BDF5-82C67C6924C1}">
          <p14:sldIdLst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89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单击此处编辑母版副标题样式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单击此处编辑母版标题样式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单击此处编辑母版文本样式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二级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2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三级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3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四级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  <a:p>
            <a:pPr lvl="4"/>
            <a:r>
              <a:rPr lang="zh-CN" altLang="en-US">
                <a:solidFill>
                  <a:schemeClr val="tx1">
                    <a:alpha val="100000"/>
                  </a:schemeClr>
                </a:solidFill>
              </a:rPr>
              <a:t>五级</a:t>
            </a:r>
            <a:endParaRPr lang="zh-CN" altLang="en-US"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DE6C64-A01B-4B39-B68D-507166B3E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C5FE8-54AD-429C-841F-0087C5C578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9.xml"/><Relationship Id="rId20" Type="http://schemas.openxmlformats.org/officeDocument/2006/relationships/image" Target="../media/image1.jpeg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58.xml"/><Relationship Id="rId24" Type="http://schemas.openxmlformats.org/officeDocument/2006/relationships/tags" Target="../tags/tag57.xml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tags" Target="../tags/tag35.xml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../media/image2.jpeg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4.xml"/><Relationship Id="rId10" Type="http://schemas.openxmlformats.org/officeDocument/2006/relationships/image" Target="../media/image3.jpeg"/><Relationship Id="rId1" Type="http://schemas.openxmlformats.org/officeDocument/2006/relationships/tags" Target="../tags/tag9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image" Target="../media/image6.jpeg"/><Relationship Id="rId7" Type="http://schemas.openxmlformats.org/officeDocument/2006/relationships/tags" Target="../tags/tag149.xml"/><Relationship Id="rId6" Type="http://schemas.openxmlformats.org/officeDocument/2006/relationships/image" Target="../media/image5.jpeg"/><Relationship Id="rId5" Type="http://schemas.openxmlformats.org/officeDocument/2006/relationships/tags" Target="../tags/tag148.xml"/><Relationship Id="rId4" Type="http://schemas.openxmlformats.org/officeDocument/2006/relationships/image" Target="../media/image4.jpe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6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image" Target="../media/image1.jpe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88.xml"/><Relationship Id="rId1" Type="http://schemas.openxmlformats.org/officeDocument/2006/relationships/tags" Target="../tags/tag1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9"/>
          <p:cNvSpPr/>
          <p:nvPr>
            <p:custDataLst>
              <p:tags r:id="rId3"/>
            </p:custDataLst>
          </p:nvPr>
        </p:nvSpPr>
        <p:spPr>
          <a:xfrm>
            <a:off x="1524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19"/>
          <p:cNvSpPr/>
          <p:nvPr>
            <p:custDataLst>
              <p:tags r:id="rId4"/>
            </p:custDataLst>
          </p:nvPr>
        </p:nvSpPr>
        <p:spPr>
          <a:xfrm>
            <a:off x="6208244" y="5575551"/>
            <a:ext cx="2016928" cy="481326"/>
          </a:xfrm>
          <a:custGeom>
            <a:avLst/>
            <a:gdLst/>
            <a:ahLst/>
            <a:cxnLst/>
            <a:rect l="l" t="t" r="r" b="b"/>
            <a:pathLst>
              <a:path w="2016928" h="481326">
                <a:moveTo>
                  <a:pt x="0" y="240659"/>
                </a:moveTo>
                <a:cubicBezTo>
                  <a:pt x="0" y="107836"/>
                  <a:pt x="107836" y="0"/>
                  <a:pt x="240659" y="0"/>
                </a:cubicBezTo>
                <a:lnTo>
                  <a:pt x="1776270" y="0"/>
                </a:lnTo>
                <a:cubicBezTo>
                  <a:pt x="1909182" y="1"/>
                  <a:pt x="2016928" y="107747"/>
                  <a:pt x="2016928" y="240659"/>
                </a:cubicBezTo>
                <a:lnTo>
                  <a:pt x="2016928" y="240659"/>
                </a:lnTo>
                <a:cubicBezTo>
                  <a:pt x="2016930" y="304487"/>
                  <a:pt x="1991576" y="365702"/>
                  <a:pt x="1946444" y="410836"/>
                </a:cubicBezTo>
                <a:cubicBezTo>
                  <a:pt x="1901312" y="455970"/>
                  <a:pt x="1840098" y="481327"/>
                  <a:pt x="1776270" y="481327"/>
                </a:cubicBezTo>
                <a:lnTo>
                  <a:pt x="240659" y="481327"/>
                </a:lnTo>
                <a:cubicBezTo>
                  <a:pt x="176831" y="481327"/>
                  <a:pt x="115617" y="455971"/>
                  <a:pt x="70484" y="410836"/>
                </a:cubicBezTo>
                <a:cubicBezTo>
                  <a:pt x="25352" y="365702"/>
                  <a:pt x="-2" y="304487"/>
                  <a:pt x="0" y="240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20"/>
          <p:cNvSpPr/>
          <p:nvPr>
            <p:custDataLst>
              <p:tags r:id="rId5"/>
            </p:custDataLst>
          </p:nvPr>
        </p:nvSpPr>
        <p:spPr>
          <a:xfrm>
            <a:off x="3981861" y="5581720"/>
            <a:ext cx="2016928" cy="481326"/>
          </a:xfrm>
          <a:custGeom>
            <a:avLst/>
            <a:gdLst/>
            <a:ahLst/>
            <a:cxnLst/>
            <a:rect l="l" t="t" r="r" b="b"/>
            <a:pathLst>
              <a:path w="2016928" h="481326">
                <a:moveTo>
                  <a:pt x="0" y="240659"/>
                </a:moveTo>
                <a:cubicBezTo>
                  <a:pt x="0" y="107836"/>
                  <a:pt x="107836" y="0"/>
                  <a:pt x="240659" y="0"/>
                </a:cubicBezTo>
                <a:lnTo>
                  <a:pt x="1776270" y="0"/>
                </a:lnTo>
                <a:cubicBezTo>
                  <a:pt x="1909182" y="1"/>
                  <a:pt x="2016928" y="107747"/>
                  <a:pt x="2016928" y="240659"/>
                </a:cubicBezTo>
                <a:lnTo>
                  <a:pt x="2016928" y="240659"/>
                </a:lnTo>
                <a:cubicBezTo>
                  <a:pt x="2016930" y="304487"/>
                  <a:pt x="1991576" y="365702"/>
                  <a:pt x="1946444" y="410836"/>
                </a:cubicBezTo>
                <a:cubicBezTo>
                  <a:pt x="1901312" y="455970"/>
                  <a:pt x="1840098" y="481327"/>
                  <a:pt x="1776270" y="481327"/>
                </a:cubicBezTo>
                <a:lnTo>
                  <a:pt x="240659" y="481327"/>
                </a:lnTo>
                <a:cubicBezTo>
                  <a:pt x="176831" y="481327"/>
                  <a:pt x="115617" y="455971"/>
                  <a:pt x="70484" y="410836"/>
                </a:cubicBezTo>
                <a:cubicBezTo>
                  <a:pt x="25352" y="365702"/>
                  <a:pt x="-2" y="304487"/>
                  <a:pt x="0" y="240659"/>
                </a:cubicBezTo>
                <a:close/>
              </a:path>
            </a:pathLst>
          </a:cu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汇报人"/>
          <p:cNvSpPr txBox="1"/>
          <p:nvPr>
            <p:custDataLst>
              <p:tags r:id="rId6"/>
            </p:custDataLst>
          </p:nvPr>
        </p:nvSpPr>
        <p:spPr>
          <a:xfrm>
            <a:off x="4191316" y="5669224"/>
            <a:ext cx="1598018" cy="293979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huahua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日期"/>
          <p:cNvSpPr txBox="1"/>
          <p:nvPr>
            <p:custDataLst>
              <p:tags r:id="rId7"/>
            </p:custDataLst>
          </p:nvPr>
        </p:nvSpPr>
        <p:spPr>
          <a:xfrm>
            <a:off x="6356167" y="5665479"/>
            <a:ext cx="1689904" cy="297724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2026.01.16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副标题-翻译"/>
          <p:cNvSpPr txBox="1"/>
          <p:nvPr>
            <p:custDataLst>
              <p:tags r:id="rId8"/>
            </p:custDataLst>
          </p:nvPr>
        </p:nvSpPr>
        <p:spPr>
          <a:xfrm>
            <a:off x="2844061" y="4443175"/>
            <a:ext cx="6708140" cy="875021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Web3Auth MPC Wallet Demo Sharing</a:t>
            </a:r>
            <a:endParaRPr lang="zh-CN" altLang="en-US" sz="16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2844061" y="2214238"/>
            <a:ext cx="6708140" cy="2064277"/>
          </a:xfrm>
          <a:prstGeom prst="rect">
            <a:avLst/>
          </a:prstGeom>
        </p:spPr>
        <p:txBody>
          <a:bodyPr spcFirstLastPara="0" wrap="square" lIns="0" tIns="0" rIns="0" bIns="0" rtlCol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Web3Auth MPC 钱包 Demo 分享</a:t>
            </a:r>
            <a:endParaRPr lang="zh-CN" altLang="en-US" sz="7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装饰文本"/>
          <p:cNvSpPr txBox="1"/>
          <p:nvPr>
            <p:custDataLst>
              <p:tags r:id="rId1"/>
            </p:custDataLst>
          </p:nvPr>
        </p:nvSpPr>
        <p:spPr>
          <a:xfrm>
            <a:off x="629326" y="3598863"/>
            <a:ext cx="1555750" cy="400110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CONTENT </a:t>
            </a:r>
            <a:endParaRPr lang="zh-CN" altLang="en-US" sz="20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" name="文本框 78"/>
          <p:cNvSpPr txBox="1"/>
          <p:nvPr>
            <p:custDataLst>
              <p:tags r:id="rId2"/>
            </p:custDataLst>
          </p:nvPr>
        </p:nvSpPr>
        <p:spPr>
          <a:xfrm>
            <a:off x="629326" y="2720975"/>
            <a:ext cx="1555750" cy="708025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目录</a:t>
            </a:r>
            <a:endParaRPr lang="zh-CN" altLang="en-US" sz="40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4" name="六边形 4"/>
          <p:cNvSpPr/>
          <p:nvPr>
            <p:custDataLst>
              <p:tags r:id="rId3"/>
            </p:custDataLst>
          </p:nvPr>
        </p:nvSpPr>
        <p:spPr>
          <a:xfrm flipH="1">
            <a:off x="3261360" y="1606501"/>
            <a:ext cx="674688" cy="582613"/>
          </a:xfrm>
          <a:custGeom>
            <a:avLst/>
            <a:gdLst/>
            <a:ahLst/>
            <a:cxnLst/>
            <a:rect l="l" t="t" r="r" b="b"/>
            <a:pathLst>
              <a:path w="674688" h="582613">
                <a:moveTo>
                  <a:pt x="0" y="294618"/>
                </a:moveTo>
                <a:lnTo>
                  <a:pt x="168307" y="0"/>
                </a:lnTo>
                <a:lnTo>
                  <a:pt x="511350" y="3277"/>
                </a:lnTo>
                <a:lnTo>
                  <a:pt x="674684" y="296970"/>
                </a:lnTo>
                <a:lnTo>
                  <a:pt x="506654" y="581254"/>
                </a:lnTo>
                <a:lnTo>
                  <a:pt x="165316" y="582616"/>
                </a:lnTo>
                <a:lnTo>
                  <a:pt x="0" y="294618"/>
                </a:ln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32"/>
          <p:cNvSpPr/>
          <p:nvPr>
            <p:custDataLst>
              <p:tags r:id="rId4"/>
            </p:custDataLst>
          </p:nvPr>
        </p:nvSpPr>
        <p:spPr>
          <a:xfrm>
            <a:off x="3364349" y="1674039"/>
            <a:ext cx="461712" cy="462193"/>
          </a:xfrm>
          <a:custGeom>
            <a:avLst/>
            <a:gdLst/>
            <a:ahLst/>
            <a:cxnLst/>
            <a:rect l="l" t="t" r="r" b="b"/>
            <a:pathLst>
              <a:path w="461712" h="462193">
                <a:moveTo>
                  <a:pt x="0" y="231096"/>
                </a:moveTo>
                <a:cubicBezTo>
                  <a:pt x="0" y="103551"/>
                  <a:pt x="103444" y="0"/>
                  <a:pt x="230857" y="0"/>
                </a:cubicBezTo>
                <a:cubicBezTo>
                  <a:pt x="292084" y="0"/>
                  <a:pt x="350804" y="24347"/>
                  <a:pt x="394098" y="67686"/>
                </a:cubicBezTo>
                <a:cubicBezTo>
                  <a:pt x="437392" y="111025"/>
                  <a:pt x="461715" y="169805"/>
                  <a:pt x="461715" y="231096"/>
                </a:cubicBezTo>
                <a:cubicBezTo>
                  <a:pt x="461714" y="358727"/>
                  <a:pt x="358356" y="462192"/>
                  <a:pt x="230857" y="462191"/>
                </a:cubicBezTo>
                <a:cubicBezTo>
                  <a:pt x="103359" y="462191"/>
                  <a:pt x="1" y="358726"/>
                  <a:pt x="0" y="231096"/>
                </a:cubicBez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序号"/>
          <p:cNvSpPr/>
          <p:nvPr>
            <p:custDataLst>
              <p:tags r:id="rId5"/>
            </p:custDataLst>
          </p:nvPr>
        </p:nvSpPr>
        <p:spPr>
          <a:xfrm>
            <a:off x="3388360" y="1620789"/>
            <a:ext cx="425116" cy="551815"/>
          </a:xfrm>
          <a:custGeom>
            <a:avLst/>
            <a:gdLst/>
            <a:ahLst/>
            <a:cxnLst/>
            <a:rect l="l" t="t" r="r" b="b"/>
            <a:pathLst>
              <a:path w="425116" h="584775">
                <a:moveTo>
                  <a:pt x="0" y="0"/>
                </a:moveTo>
                <a:lnTo>
                  <a:pt x="425120" y="0"/>
                </a:lnTo>
                <a:lnTo>
                  <a:pt x="425120" y="584778"/>
                </a:lnTo>
                <a:lnTo>
                  <a:pt x="0" y="584778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1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目录"/>
          <p:cNvSpPr txBox="1"/>
          <p:nvPr>
            <p:custDataLst>
              <p:tags r:id="rId6"/>
            </p:custDataLst>
          </p:nvPr>
        </p:nvSpPr>
        <p:spPr>
          <a:xfrm>
            <a:off x="4063048" y="1690983"/>
            <a:ext cx="5458101" cy="640467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MPC钱包核心优势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六边形 4"/>
          <p:cNvSpPr/>
          <p:nvPr>
            <p:custDataLst>
              <p:tags r:id="rId7"/>
            </p:custDataLst>
          </p:nvPr>
        </p:nvSpPr>
        <p:spPr>
          <a:xfrm flipH="1">
            <a:off x="3261360" y="2607878"/>
            <a:ext cx="674688" cy="584200"/>
          </a:xfrm>
          <a:custGeom>
            <a:avLst/>
            <a:gdLst/>
            <a:ahLst/>
            <a:cxnLst/>
            <a:rect l="l" t="t" r="r" b="b"/>
            <a:pathLst>
              <a:path w="674688" h="584200">
                <a:moveTo>
                  <a:pt x="0" y="295418"/>
                </a:moveTo>
                <a:lnTo>
                  <a:pt x="168307" y="0"/>
                </a:lnTo>
                <a:lnTo>
                  <a:pt x="511350" y="3286"/>
                </a:lnTo>
                <a:lnTo>
                  <a:pt x="674684" y="297780"/>
                </a:lnTo>
                <a:lnTo>
                  <a:pt x="506654" y="582835"/>
                </a:lnTo>
                <a:lnTo>
                  <a:pt x="165316" y="584197"/>
                </a:lnTo>
                <a:lnTo>
                  <a:pt x="0" y="295418"/>
                </a:ln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36"/>
          <p:cNvSpPr/>
          <p:nvPr>
            <p:custDataLst>
              <p:tags r:id="rId8"/>
            </p:custDataLst>
          </p:nvPr>
        </p:nvSpPr>
        <p:spPr>
          <a:xfrm>
            <a:off x="3364349" y="2675600"/>
            <a:ext cx="461712" cy="463452"/>
          </a:xfrm>
          <a:custGeom>
            <a:avLst/>
            <a:gdLst/>
            <a:ahLst/>
            <a:cxnLst/>
            <a:rect l="l" t="t" r="r" b="b"/>
            <a:pathLst>
              <a:path w="461712" h="463452">
                <a:moveTo>
                  <a:pt x="0" y="231724"/>
                </a:moveTo>
                <a:cubicBezTo>
                  <a:pt x="0" y="103832"/>
                  <a:pt x="103444" y="0"/>
                  <a:pt x="230857" y="0"/>
                </a:cubicBezTo>
                <a:cubicBezTo>
                  <a:pt x="292084" y="0"/>
                  <a:pt x="350804" y="24413"/>
                  <a:pt x="394098" y="67870"/>
                </a:cubicBezTo>
                <a:cubicBezTo>
                  <a:pt x="437392" y="111327"/>
                  <a:pt x="461715" y="170267"/>
                  <a:pt x="461715" y="231724"/>
                </a:cubicBezTo>
                <a:cubicBezTo>
                  <a:pt x="461715" y="293181"/>
                  <a:pt x="437392" y="352121"/>
                  <a:pt x="394098" y="395578"/>
                </a:cubicBezTo>
                <a:cubicBezTo>
                  <a:pt x="350804" y="439035"/>
                  <a:pt x="292084" y="463448"/>
                  <a:pt x="230857" y="463448"/>
                </a:cubicBezTo>
                <a:cubicBezTo>
                  <a:pt x="103444" y="463448"/>
                  <a:pt x="0" y="359616"/>
                  <a:pt x="0" y="231724"/>
                </a:cubicBez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序号"/>
          <p:cNvSpPr/>
          <p:nvPr>
            <p:custDataLst>
              <p:tags r:id="rId9"/>
            </p:custDataLst>
          </p:nvPr>
        </p:nvSpPr>
        <p:spPr>
          <a:xfrm>
            <a:off x="3388360" y="2623753"/>
            <a:ext cx="425116" cy="551815"/>
          </a:xfrm>
          <a:custGeom>
            <a:avLst/>
            <a:gdLst/>
            <a:ahLst/>
            <a:cxnLst/>
            <a:rect l="l" t="t" r="r" b="b"/>
            <a:pathLst>
              <a:path w="425116" h="584775">
                <a:moveTo>
                  <a:pt x="0" y="0"/>
                </a:moveTo>
                <a:lnTo>
                  <a:pt x="425120" y="0"/>
                </a:lnTo>
                <a:lnTo>
                  <a:pt x="425120" y="584778"/>
                </a:lnTo>
                <a:lnTo>
                  <a:pt x="0" y="584778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目录"/>
          <p:cNvSpPr txBox="1"/>
          <p:nvPr>
            <p:custDataLst>
              <p:tags r:id="rId10"/>
            </p:custDataLst>
          </p:nvPr>
        </p:nvSpPr>
        <p:spPr>
          <a:xfrm>
            <a:off x="4063048" y="2685984"/>
            <a:ext cx="5458101" cy="640467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技术实现原理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六边形 4"/>
          <p:cNvSpPr/>
          <p:nvPr>
            <p:custDataLst>
              <p:tags r:id="rId11"/>
            </p:custDataLst>
          </p:nvPr>
        </p:nvSpPr>
        <p:spPr>
          <a:xfrm flipH="1">
            <a:off x="3261360" y="3602879"/>
            <a:ext cx="674688" cy="584200"/>
          </a:xfrm>
          <a:custGeom>
            <a:avLst/>
            <a:gdLst/>
            <a:ahLst/>
            <a:cxnLst/>
            <a:rect l="l" t="t" r="r" b="b"/>
            <a:pathLst>
              <a:path w="674688" h="584200">
                <a:moveTo>
                  <a:pt x="0" y="295418"/>
                </a:moveTo>
                <a:lnTo>
                  <a:pt x="168307" y="0"/>
                </a:lnTo>
                <a:lnTo>
                  <a:pt x="511350" y="3286"/>
                </a:lnTo>
                <a:lnTo>
                  <a:pt x="674684" y="297780"/>
                </a:lnTo>
                <a:lnTo>
                  <a:pt x="506654" y="582835"/>
                </a:lnTo>
                <a:lnTo>
                  <a:pt x="165316" y="584197"/>
                </a:lnTo>
                <a:lnTo>
                  <a:pt x="0" y="295418"/>
                </a:ln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40"/>
          <p:cNvSpPr/>
          <p:nvPr>
            <p:custDataLst>
              <p:tags r:id="rId12"/>
            </p:custDataLst>
          </p:nvPr>
        </p:nvSpPr>
        <p:spPr>
          <a:xfrm>
            <a:off x="3364349" y="3670601"/>
            <a:ext cx="461712" cy="463452"/>
          </a:xfrm>
          <a:custGeom>
            <a:avLst/>
            <a:gdLst/>
            <a:ahLst/>
            <a:cxnLst/>
            <a:rect l="l" t="t" r="r" b="b"/>
            <a:pathLst>
              <a:path w="461712" h="463452">
                <a:moveTo>
                  <a:pt x="0" y="231724"/>
                </a:moveTo>
                <a:cubicBezTo>
                  <a:pt x="0" y="103832"/>
                  <a:pt x="103444" y="0"/>
                  <a:pt x="230857" y="0"/>
                </a:cubicBezTo>
                <a:cubicBezTo>
                  <a:pt x="292084" y="0"/>
                  <a:pt x="350804" y="24413"/>
                  <a:pt x="394098" y="67870"/>
                </a:cubicBezTo>
                <a:cubicBezTo>
                  <a:pt x="437392" y="111327"/>
                  <a:pt x="461715" y="170267"/>
                  <a:pt x="461715" y="231724"/>
                </a:cubicBezTo>
                <a:cubicBezTo>
                  <a:pt x="461715" y="293181"/>
                  <a:pt x="437392" y="352121"/>
                  <a:pt x="394098" y="395578"/>
                </a:cubicBezTo>
                <a:cubicBezTo>
                  <a:pt x="350804" y="439035"/>
                  <a:pt x="292084" y="463448"/>
                  <a:pt x="230857" y="463448"/>
                </a:cubicBezTo>
                <a:cubicBezTo>
                  <a:pt x="103444" y="463448"/>
                  <a:pt x="0" y="359616"/>
                  <a:pt x="0" y="231724"/>
                </a:cubicBez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序号"/>
          <p:cNvSpPr/>
          <p:nvPr>
            <p:custDataLst>
              <p:tags r:id="rId13"/>
            </p:custDataLst>
          </p:nvPr>
        </p:nvSpPr>
        <p:spPr>
          <a:xfrm>
            <a:off x="3388360" y="3618754"/>
            <a:ext cx="425116" cy="551815"/>
          </a:xfrm>
          <a:custGeom>
            <a:avLst/>
            <a:gdLst/>
            <a:ahLst/>
            <a:cxnLst/>
            <a:rect l="l" t="t" r="r" b="b"/>
            <a:pathLst>
              <a:path w="425116" h="584775">
                <a:moveTo>
                  <a:pt x="0" y="0"/>
                </a:moveTo>
                <a:lnTo>
                  <a:pt x="425120" y="0"/>
                </a:lnTo>
                <a:lnTo>
                  <a:pt x="425120" y="584778"/>
                </a:lnTo>
                <a:lnTo>
                  <a:pt x="0" y="584778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3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目录"/>
          <p:cNvSpPr txBox="1"/>
          <p:nvPr>
            <p:custDataLst>
              <p:tags r:id="rId14"/>
            </p:custDataLst>
          </p:nvPr>
        </p:nvSpPr>
        <p:spPr>
          <a:xfrm>
            <a:off x="4063048" y="3673233"/>
            <a:ext cx="5458101" cy="640467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应用场景分析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0" name="六边形 4"/>
          <p:cNvSpPr/>
          <p:nvPr>
            <p:custDataLst>
              <p:tags r:id="rId15"/>
            </p:custDataLst>
          </p:nvPr>
        </p:nvSpPr>
        <p:spPr>
          <a:xfrm flipH="1">
            <a:off x="3261360" y="4651272"/>
            <a:ext cx="674688" cy="582612"/>
          </a:xfrm>
          <a:custGeom>
            <a:avLst/>
            <a:gdLst/>
            <a:ahLst/>
            <a:cxnLst/>
            <a:rect l="l" t="t" r="r" b="b"/>
            <a:pathLst>
              <a:path w="674688" h="582612">
                <a:moveTo>
                  <a:pt x="0" y="294618"/>
                </a:moveTo>
                <a:lnTo>
                  <a:pt x="168307" y="0"/>
                </a:lnTo>
                <a:lnTo>
                  <a:pt x="511350" y="3277"/>
                </a:lnTo>
                <a:lnTo>
                  <a:pt x="674684" y="296970"/>
                </a:lnTo>
                <a:lnTo>
                  <a:pt x="506654" y="581244"/>
                </a:lnTo>
                <a:lnTo>
                  <a:pt x="165316" y="582616"/>
                </a:lnTo>
                <a:lnTo>
                  <a:pt x="0" y="294618"/>
                </a:ln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10"/>
          <p:cNvSpPr/>
          <p:nvPr>
            <p:custDataLst>
              <p:tags r:id="rId16"/>
            </p:custDataLst>
          </p:nvPr>
        </p:nvSpPr>
        <p:spPr>
          <a:xfrm>
            <a:off x="3364349" y="4718810"/>
            <a:ext cx="461712" cy="462193"/>
          </a:xfrm>
          <a:custGeom>
            <a:avLst/>
            <a:gdLst/>
            <a:ahLst/>
            <a:cxnLst/>
            <a:rect l="l" t="t" r="r" b="b"/>
            <a:pathLst>
              <a:path w="461712" h="462193">
                <a:moveTo>
                  <a:pt x="0" y="231096"/>
                </a:moveTo>
                <a:cubicBezTo>
                  <a:pt x="0" y="103551"/>
                  <a:pt x="103444" y="0"/>
                  <a:pt x="230857" y="0"/>
                </a:cubicBezTo>
                <a:cubicBezTo>
                  <a:pt x="292084" y="0"/>
                  <a:pt x="350804" y="24347"/>
                  <a:pt x="394098" y="67686"/>
                </a:cubicBezTo>
                <a:cubicBezTo>
                  <a:pt x="437392" y="111025"/>
                  <a:pt x="461715" y="169805"/>
                  <a:pt x="461715" y="231096"/>
                </a:cubicBezTo>
                <a:cubicBezTo>
                  <a:pt x="461714" y="358727"/>
                  <a:pt x="358356" y="462192"/>
                  <a:pt x="230857" y="462191"/>
                </a:cubicBezTo>
                <a:cubicBezTo>
                  <a:pt x="103359" y="462191"/>
                  <a:pt x="1" y="358726"/>
                  <a:pt x="0" y="231096"/>
                </a:cubicBezTo>
                <a:close/>
              </a:path>
            </a:pathLst>
          </a:custGeom>
          <a:ln w="9525">
            <a:solidFill>
              <a:schemeClr val="tx2">
                <a:alpha val="56000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序号"/>
          <p:cNvSpPr/>
          <p:nvPr>
            <p:custDataLst>
              <p:tags r:id="rId17"/>
            </p:custDataLst>
          </p:nvPr>
        </p:nvSpPr>
        <p:spPr>
          <a:xfrm>
            <a:off x="3388360" y="4665559"/>
            <a:ext cx="425116" cy="551815"/>
          </a:xfrm>
          <a:custGeom>
            <a:avLst/>
            <a:gdLst/>
            <a:ahLst/>
            <a:cxnLst/>
            <a:rect l="l" t="t" r="r" b="b"/>
            <a:pathLst>
              <a:path w="425116" h="584775">
                <a:moveTo>
                  <a:pt x="0" y="0"/>
                </a:moveTo>
                <a:lnTo>
                  <a:pt x="425120" y="0"/>
                </a:lnTo>
                <a:lnTo>
                  <a:pt x="425120" y="584778"/>
                </a:lnTo>
                <a:lnTo>
                  <a:pt x="0" y="584778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4</a:t>
            </a:r>
            <a:endParaRPr lang="en-US" altLang="zh-CN" sz="3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3" name="目录"/>
          <p:cNvSpPr txBox="1"/>
          <p:nvPr>
            <p:custDataLst>
              <p:tags r:id="rId18"/>
            </p:custDataLst>
          </p:nvPr>
        </p:nvSpPr>
        <p:spPr>
          <a:xfrm>
            <a:off x="4063048" y="4634356"/>
            <a:ext cx="5458101" cy="640467"/>
          </a:xfrm>
          <a:prstGeom prst="rect">
            <a:avLst/>
          </a:prstGeom>
        </p:spPr>
        <p:txBody>
          <a:bodyPr spcFirstLastPara="0" wrap="square" lIns="51435" tIns="34290" rIns="51435" bIns="25718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未来发展方向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pic>
        <p:nvPicPr>
          <p:cNvPr id="24" name="图片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l="84250"/>
          <a:stretch>
            <a:fillRect/>
          </a:stretch>
        </p:blipFill>
        <p:spPr>
          <a:xfrm>
            <a:off x="10271760" y="0"/>
            <a:ext cx="1920240" cy="685800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序号"/>
          <p:cNvSpPr/>
          <p:nvPr>
            <p:custDataLst>
              <p:tags r:id="rId1"/>
            </p:custDataLst>
          </p:nvPr>
        </p:nvSpPr>
        <p:spPr>
          <a:xfrm>
            <a:off x="5467547" y="1418031"/>
            <a:ext cx="1256905" cy="1446550"/>
          </a:xfrm>
          <a:custGeom>
            <a:avLst/>
            <a:gdLst/>
            <a:ahLst/>
            <a:cxnLst/>
            <a:rect l="l" t="t" r="r" b="b"/>
            <a:pathLst>
              <a:path w="1256905" h="1446550">
                <a:moveTo>
                  <a:pt x="0" y="0"/>
                </a:moveTo>
                <a:lnTo>
                  <a:pt x="1256909" y="0"/>
                </a:lnTo>
                <a:lnTo>
                  <a:pt x="1256909" y="1446552"/>
                </a:lnTo>
                <a:lnTo>
                  <a:pt x="0" y="1446552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8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" name="标题"/>
          <p:cNvSpPr txBox="1"/>
          <p:nvPr>
            <p:custDataLst>
              <p:tags r:id="rId2"/>
            </p:custDataLst>
          </p:nvPr>
        </p:nvSpPr>
        <p:spPr>
          <a:xfrm>
            <a:off x="1411550" y="2750185"/>
            <a:ext cx="9250532" cy="1357630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MPC钱包核心优势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4" name="副标题"/>
          <p:cNvSpPr txBox="1"/>
          <p:nvPr>
            <p:custDataLst>
              <p:tags r:id="rId3"/>
            </p:custDataLst>
          </p:nvPr>
        </p:nvSpPr>
        <p:spPr>
          <a:xfrm>
            <a:off x="2240280" y="4225290"/>
            <a:ext cx="7711440" cy="1176655"/>
          </a:xfrm>
          <a:prstGeom prst="rect">
            <a:avLst/>
          </a:prstGeom>
        </p:spPr>
        <p:txBody>
          <a:bodyPr spcFirstLastPara="0" wrap="square" lIns="38576" tIns="34290" rIns="38576" bIns="25718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MPC Wallet Core Advantages</a:t>
            </a:r>
            <a:endParaRPr lang="zh-CN" altLang="en-US" sz="14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免助记词登录体验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5" name="装饰1-子标题1-[1]【1】"/>
          <p:cNvSpPr/>
          <p:nvPr>
            <p:custDataLst>
              <p:tags r:id="rId4"/>
            </p:custDataLst>
          </p:nvPr>
        </p:nvSpPr>
        <p:spPr>
          <a:xfrm>
            <a:off x="696815" y="1673488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222"/>
                </a:lnTo>
                <a:cubicBezTo>
                  <a:pt x="3093920" y="596760"/>
                  <a:pt x="3069688" y="567128"/>
                  <a:pt x="3031350" y="552393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/>
                </a:gs>
                <a:gs pos="39000">
                  <a:schemeClr val="accent1"/>
                </a:gs>
                <a:gs pos="70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子标题1-[1]【1】"/>
          <p:cNvSpPr/>
          <p:nvPr>
            <p:custDataLst>
              <p:tags r:id="rId5"/>
            </p:custDataLst>
          </p:nvPr>
        </p:nvSpPr>
        <p:spPr>
          <a:xfrm>
            <a:off x="696815" y="1456077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384"/>
                </a:lnTo>
                <a:cubicBezTo>
                  <a:pt x="3093920" y="596932"/>
                  <a:pt x="3069688" y="567290"/>
                  <a:pt x="3031350" y="552555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>
                    <a:alpha val="30000"/>
                  </a:schemeClr>
                </a:gs>
                <a:gs pos="44000">
                  <a:srgbClr val="55D2F7">
                    <a:alpha val="0"/>
                  </a:srgbClr>
                </a:gs>
                <a:gs pos="74000">
                  <a:srgbClr val="55D2F7">
                    <a:alpha val="0"/>
                  </a:srgb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>
            <a:off x="696815" y="2314574"/>
            <a:ext cx="3093917" cy="4141133"/>
          </a:xfrm>
          <a:custGeom>
            <a:avLst/>
            <a:gdLst/>
            <a:ahLst/>
            <a:cxnLst/>
            <a:rect l="l" t="t" r="r" b="b"/>
            <a:pathLst>
              <a:path w="3093917" h="4141133">
                <a:moveTo>
                  <a:pt x="1517218" y="8153"/>
                </a:moveTo>
                <a:lnTo>
                  <a:pt x="63665" y="503682"/>
                </a:lnTo>
                <a:cubicBezTo>
                  <a:pt x="24670" y="516960"/>
                  <a:pt x="0" y="544287"/>
                  <a:pt x="0" y="574167"/>
                </a:cubicBezTo>
                <a:lnTo>
                  <a:pt x="0" y="4062498"/>
                </a:lnTo>
                <a:cubicBezTo>
                  <a:pt x="0" y="4105960"/>
                  <a:pt x="51330" y="4141137"/>
                  <a:pt x="114776" y="4141137"/>
                </a:cubicBezTo>
                <a:lnTo>
                  <a:pt x="2979144" y="4141137"/>
                </a:lnTo>
                <a:cubicBezTo>
                  <a:pt x="3042590" y="4141137"/>
                  <a:pt x="3093920" y="4105960"/>
                  <a:pt x="3093920" y="4062498"/>
                </a:cubicBezTo>
                <a:lnTo>
                  <a:pt x="3093920" y="573567"/>
                </a:lnTo>
                <a:cubicBezTo>
                  <a:pt x="3093920" y="543982"/>
                  <a:pt x="3069688" y="516960"/>
                  <a:pt x="3031350" y="503530"/>
                </a:cubicBezTo>
                <a:lnTo>
                  <a:pt x="1620536" y="8601"/>
                </a:lnTo>
                <a:cubicBezTo>
                  <a:pt x="1588151" y="-2715"/>
                  <a:pt x="1549603" y="-2867"/>
                  <a:pt x="1516999" y="8153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/>
              </a:gs>
            </a:gsLst>
            <a:lin ang="54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1-子标题1-[1]【1】"/>
          <p:cNvSpPr/>
          <p:nvPr>
            <p:custDataLst>
              <p:tags r:id="rId7"/>
            </p:custDataLst>
          </p:nvPr>
        </p:nvSpPr>
        <p:spPr>
          <a:xfrm>
            <a:off x="1747506" y="1953282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icon1-[1]【1】"/>
          <p:cNvSpPr/>
          <p:nvPr>
            <p:custDataLst>
              <p:tags r:id="rId8"/>
            </p:custDataLst>
          </p:nvPr>
        </p:nvSpPr>
        <p:spPr>
          <a:xfrm>
            <a:off x="1981166" y="2185756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5275" y="6096"/>
                </a:moveTo>
                <a:lnTo>
                  <a:pt x="95250" y="6096"/>
                </a:lnTo>
                <a:cubicBezTo>
                  <a:pt x="93355" y="6096"/>
                  <a:pt x="91821" y="7630"/>
                  <a:pt x="91821" y="9525"/>
                </a:cubicBezTo>
                <a:lnTo>
                  <a:pt x="91821" y="34671"/>
                </a:lnTo>
                <a:lnTo>
                  <a:pt x="9525" y="34671"/>
                </a:lnTo>
                <a:cubicBezTo>
                  <a:pt x="7630" y="34671"/>
                  <a:pt x="6096" y="36205"/>
                  <a:pt x="6096" y="38100"/>
                </a:cubicBezTo>
                <a:lnTo>
                  <a:pt x="6096" y="295275"/>
                </a:lnTo>
                <a:cubicBezTo>
                  <a:pt x="6096" y="297170"/>
                  <a:pt x="7630" y="298704"/>
                  <a:pt x="9525" y="298704"/>
                </a:cubicBezTo>
                <a:lnTo>
                  <a:pt x="209550" y="298704"/>
                </a:lnTo>
                <a:cubicBezTo>
                  <a:pt x="211445" y="298704"/>
                  <a:pt x="212979" y="297170"/>
                  <a:pt x="212979" y="295275"/>
                </a:cubicBezTo>
                <a:lnTo>
                  <a:pt x="212979" y="270129"/>
                </a:lnTo>
                <a:lnTo>
                  <a:pt x="295275" y="270129"/>
                </a:lnTo>
                <a:cubicBezTo>
                  <a:pt x="297170" y="270129"/>
                  <a:pt x="298704" y="268596"/>
                  <a:pt x="298704" y="266700"/>
                </a:cubicBezTo>
                <a:lnTo>
                  <a:pt x="298704" y="9525"/>
                </a:lnTo>
                <a:cubicBezTo>
                  <a:pt x="298704" y="7630"/>
                  <a:pt x="297170" y="6096"/>
                  <a:pt x="295275" y="6096"/>
                </a:cubicBezTo>
                <a:close/>
                <a:moveTo>
                  <a:pt x="206121" y="291846"/>
                </a:moveTo>
                <a:lnTo>
                  <a:pt x="12954" y="291846"/>
                </a:lnTo>
                <a:lnTo>
                  <a:pt x="12954" y="41529"/>
                </a:lnTo>
                <a:lnTo>
                  <a:pt x="148971" y="41529"/>
                </a:lnTo>
                <a:lnTo>
                  <a:pt x="148971" y="95250"/>
                </a:lnTo>
                <a:cubicBezTo>
                  <a:pt x="148971" y="97145"/>
                  <a:pt x="150505" y="98679"/>
                  <a:pt x="152400" y="98679"/>
                </a:cubicBezTo>
                <a:lnTo>
                  <a:pt x="206121" y="98679"/>
                </a:lnTo>
                <a:lnTo>
                  <a:pt x="206121" y="291846"/>
                </a:lnTo>
                <a:close/>
                <a:moveTo>
                  <a:pt x="155829" y="46377"/>
                </a:moveTo>
                <a:lnTo>
                  <a:pt x="201273" y="91821"/>
                </a:lnTo>
                <a:lnTo>
                  <a:pt x="155829" y="91821"/>
                </a:lnTo>
                <a:lnTo>
                  <a:pt x="155829" y="46377"/>
                </a:lnTo>
                <a:close/>
                <a:moveTo>
                  <a:pt x="291846" y="263271"/>
                </a:moveTo>
                <a:lnTo>
                  <a:pt x="212979" y="263271"/>
                </a:lnTo>
                <a:lnTo>
                  <a:pt x="212979" y="95250"/>
                </a:lnTo>
                <a:cubicBezTo>
                  <a:pt x="212979" y="94336"/>
                  <a:pt x="212617" y="93469"/>
                  <a:pt x="211979" y="92831"/>
                </a:cubicBezTo>
                <a:lnTo>
                  <a:pt x="154829" y="35681"/>
                </a:lnTo>
                <a:cubicBezTo>
                  <a:pt x="154181" y="35033"/>
                  <a:pt x="153314" y="34671"/>
                  <a:pt x="152400" y="34671"/>
                </a:cubicBezTo>
                <a:lnTo>
                  <a:pt x="98679" y="34671"/>
                </a:lnTo>
                <a:lnTo>
                  <a:pt x="98679" y="12954"/>
                </a:lnTo>
                <a:lnTo>
                  <a:pt x="291846" y="12954"/>
                </a:lnTo>
                <a:cubicBezTo>
                  <a:pt x="291846" y="12954"/>
                  <a:pt x="291846" y="263271"/>
                  <a:pt x="291846" y="263271"/>
                </a:cubicBezTo>
                <a:close/>
                <a:moveTo>
                  <a:pt x="184404" y="152400"/>
                </a:moveTo>
                <a:cubicBezTo>
                  <a:pt x="184404" y="154295"/>
                  <a:pt x="182870" y="155829"/>
                  <a:pt x="180975" y="155829"/>
                </a:cubicBezTo>
                <a:lnTo>
                  <a:pt x="38100" y="155829"/>
                </a:lnTo>
                <a:cubicBezTo>
                  <a:pt x="36205" y="155829"/>
                  <a:pt x="34671" y="154295"/>
                  <a:pt x="34671" y="152400"/>
                </a:cubicBezTo>
                <a:quadBezTo>
                  <a:pt x="36205" y="148971"/>
                  <a:pt x="38100" y="148971"/>
                </a:quadBezTo>
                <a:lnTo>
                  <a:pt x="180975" y="148971"/>
                </a:lnTo>
                <a:cubicBezTo>
                  <a:pt x="182870" y="148971"/>
                  <a:pt x="184404" y="150505"/>
                  <a:pt x="184404" y="152400"/>
                </a:cubicBezTo>
                <a:close/>
                <a:moveTo>
                  <a:pt x="184404" y="180975"/>
                </a:moveTo>
                <a:cubicBezTo>
                  <a:pt x="184404" y="182870"/>
                  <a:pt x="182870" y="184404"/>
                  <a:pt x="180975" y="184404"/>
                </a:cubicBezTo>
                <a:lnTo>
                  <a:pt x="38100" y="184404"/>
                </a:lnTo>
                <a:cubicBezTo>
                  <a:pt x="36205" y="184404"/>
                  <a:pt x="34671" y="182870"/>
                  <a:pt x="34671" y="180975"/>
                </a:cubicBezTo>
                <a:quadBezTo>
                  <a:pt x="36205" y="177546"/>
                  <a:pt x="38100" y="177546"/>
                </a:quadBezTo>
                <a:lnTo>
                  <a:pt x="180975" y="177546"/>
                </a:lnTo>
                <a:cubicBezTo>
                  <a:pt x="182870" y="177546"/>
                  <a:pt x="184404" y="179080"/>
                  <a:pt x="184404" y="180975"/>
                </a:cubicBezTo>
                <a:close/>
                <a:moveTo>
                  <a:pt x="184404" y="209550"/>
                </a:moveTo>
                <a:cubicBezTo>
                  <a:pt x="184404" y="211445"/>
                  <a:pt x="182870" y="212979"/>
                  <a:pt x="180975" y="212979"/>
                </a:cubicBezTo>
                <a:lnTo>
                  <a:pt x="38100" y="212979"/>
                </a:lnTo>
                <a:cubicBezTo>
                  <a:pt x="36205" y="212979"/>
                  <a:pt x="34671" y="211446"/>
                  <a:pt x="34671" y="209550"/>
                </a:cubicBezTo>
                <a:quadBezTo>
                  <a:pt x="36205" y="206121"/>
                  <a:pt x="38100" y="206121"/>
                </a:quadBezTo>
                <a:lnTo>
                  <a:pt x="180975" y="206121"/>
                </a:lnTo>
                <a:cubicBezTo>
                  <a:pt x="182870" y="206121"/>
                  <a:pt x="184404" y="207655"/>
                  <a:pt x="184404" y="209550"/>
                </a:cubicBezTo>
                <a:close/>
                <a:moveTo>
                  <a:pt x="184404" y="238125"/>
                </a:moveTo>
                <a:cubicBezTo>
                  <a:pt x="184404" y="240020"/>
                  <a:pt x="182870" y="241554"/>
                  <a:pt x="180975" y="241554"/>
                </a:cubicBezTo>
                <a:lnTo>
                  <a:pt x="38100" y="241554"/>
                </a:lnTo>
                <a:cubicBezTo>
                  <a:pt x="36205" y="241554"/>
                  <a:pt x="34671" y="240020"/>
                  <a:pt x="34671" y="238125"/>
                </a:cubicBezTo>
                <a:quadBezTo>
                  <a:pt x="36205" y="234696"/>
                  <a:pt x="38100" y="234696"/>
                </a:quadBezTo>
                <a:lnTo>
                  <a:pt x="180975" y="234696"/>
                </a:lnTo>
                <a:cubicBezTo>
                  <a:pt x="182870" y="234696"/>
                  <a:pt x="184404" y="236230"/>
                  <a:pt x="184404" y="238125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子内容1-[1]【1】"/>
          <p:cNvSpPr txBox="1"/>
          <p:nvPr>
            <p:custDataLst>
              <p:tags r:id="rId9"/>
            </p:custDataLst>
          </p:nvPr>
        </p:nvSpPr>
        <p:spPr>
          <a:xfrm>
            <a:off x="935994" y="3639350"/>
            <a:ext cx="2550259" cy="272113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传统钱包依赖助记词进行保管，这种方式不仅保管成本高，而且容易丢失。一旦助记词泄露或遗失，将对用户的资产安全构成巨大威胁，因为这意味着他们可能无法恢复钱包，进而导致资产无法安全保管。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子标题1-[1]【1】"/>
          <p:cNvSpPr txBox="1"/>
          <p:nvPr>
            <p:custDataLst>
              <p:tags r:id="rId10"/>
            </p:custDataLst>
          </p:nvPr>
        </p:nvSpPr>
        <p:spPr>
          <a:xfrm>
            <a:off x="724592" y="3184510"/>
            <a:ext cx="2974974" cy="4548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传统钱包依赖助记词保管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装饰2-子标题2-[2]【1】"/>
          <p:cNvSpPr/>
          <p:nvPr>
            <p:custDataLst>
              <p:tags r:id="rId11"/>
            </p:custDataLst>
          </p:nvPr>
        </p:nvSpPr>
        <p:spPr>
          <a:xfrm>
            <a:off x="4546329" y="1673488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222"/>
                </a:lnTo>
                <a:cubicBezTo>
                  <a:pt x="3093920" y="596760"/>
                  <a:pt x="3069688" y="567128"/>
                  <a:pt x="3031350" y="552393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/>
                </a:gs>
                <a:gs pos="39000">
                  <a:schemeClr val="accent1"/>
                </a:gs>
                <a:gs pos="70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装饰2-子标题2-[2]【1】"/>
          <p:cNvSpPr/>
          <p:nvPr>
            <p:custDataLst>
              <p:tags r:id="rId12"/>
            </p:custDataLst>
          </p:nvPr>
        </p:nvSpPr>
        <p:spPr>
          <a:xfrm>
            <a:off x="4546329" y="1456077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384"/>
                </a:lnTo>
                <a:cubicBezTo>
                  <a:pt x="3093920" y="596932"/>
                  <a:pt x="3069688" y="567290"/>
                  <a:pt x="3031350" y="552555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>
                    <a:alpha val="30000"/>
                  </a:schemeClr>
                </a:gs>
                <a:gs pos="44000">
                  <a:srgbClr val="55D2F7">
                    <a:alpha val="0"/>
                  </a:srgbClr>
                </a:gs>
                <a:gs pos="74000">
                  <a:srgbClr val="55D2F7">
                    <a:alpha val="0"/>
                  </a:srgb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装饰2-子标题2-[2]【1】"/>
          <p:cNvSpPr/>
          <p:nvPr>
            <p:custDataLst>
              <p:tags r:id="rId13"/>
            </p:custDataLst>
          </p:nvPr>
        </p:nvSpPr>
        <p:spPr>
          <a:xfrm>
            <a:off x="4546329" y="2314574"/>
            <a:ext cx="3093917" cy="4141133"/>
          </a:xfrm>
          <a:custGeom>
            <a:avLst/>
            <a:gdLst/>
            <a:ahLst/>
            <a:cxnLst/>
            <a:rect l="l" t="t" r="r" b="b"/>
            <a:pathLst>
              <a:path w="3093917" h="4141133">
                <a:moveTo>
                  <a:pt x="1517218" y="8153"/>
                </a:moveTo>
                <a:lnTo>
                  <a:pt x="63665" y="503682"/>
                </a:lnTo>
                <a:cubicBezTo>
                  <a:pt x="24670" y="516960"/>
                  <a:pt x="0" y="544287"/>
                  <a:pt x="0" y="574167"/>
                </a:cubicBezTo>
                <a:lnTo>
                  <a:pt x="0" y="4062498"/>
                </a:lnTo>
                <a:cubicBezTo>
                  <a:pt x="0" y="4105960"/>
                  <a:pt x="51330" y="4141137"/>
                  <a:pt x="114776" y="4141137"/>
                </a:cubicBezTo>
                <a:lnTo>
                  <a:pt x="2979144" y="4141137"/>
                </a:lnTo>
                <a:cubicBezTo>
                  <a:pt x="3042590" y="4141137"/>
                  <a:pt x="3093920" y="4105960"/>
                  <a:pt x="3093920" y="4062498"/>
                </a:cubicBezTo>
                <a:lnTo>
                  <a:pt x="3093920" y="573567"/>
                </a:lnTo>
                <a:cubicBezTo>
                  <a:pt x="3093920" y="543982"/>
                  <a:pt x="3069688" y="516960"/>
                  <a:pt x="3031350" y="503530"/>
                </a:cubicBezTo>
                <a:lnTo>
                  <a:pt x="1620536" y="8601"/>
                </a:lnTo>
                <a:cubicBezTo>
                  <a:pt x="1588151" y="-2715"/>
                  <a:pt x="1549603" y="-2867"/>
                  <a:pt x="1516999" y="8153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/>
              </a:gs>
            </a:gsLst>
            <a:lin ang="54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装饰2-子标题2-[2]【1】"/>
          <p:cNvSpPr/>
          <p:nvPr>
            <p:custDataLst>
              <p:tags r:id="rId14"/>
            </p:custDataLst>
          </p:nvPr>
        </p:nvSpPr>
        <p:spPr>
          <a:xfrm>
            <a:off x="5597020" y="1953282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icon2-[2]【1】"/>
          <p:cNvSpPr/>
          <p:nvPr>
            <p:custDataLst>
              <p:tags r:id="rId15"/>
            </p:custDataLst>
          </p:nvPr>
        </p:nvSpPr>
        <p:spPr>
          <a:xfrm>
            <a:off x="5830680" y="2185756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4570876" y="2506923"/>
                </a:moveTo>
                <a:lnTo>
                  <a:pt x="4288984" y="2506923"/>
                </a:lnTo>
                <a:lnTo>
                  <a:pt x="4288984" y="1808416"/>
                </a:lnTo>
                <a:cubicBezTo>
                  <a:pt x="4288984" y="1721406"/>
                  <a:pt x="4218442" y="1650863"/>
                  <a:pt x="4131430" y="1650863"/>
                </a:cubicBezTo>
                <a:lnTo>
                  <a:pt x="3238795" y="1650863"/>
                </a:lnTo>
                <a:lnTo>
                  <a:pt x="3238795" y="179813"/>
                </a:lnTo>
                <a:cubicBezTo>
                  <a:pt x="3238795" y="92802"/>
                  <a:pt x="3168253" y="22260"/>
                  <a:pt x="3081242" y="22260"/>
                </a:cubicBezTo>
                <a:lnTo>
                  <a:pt x="2427151" y="22260"/>
                </a:lnTo>
                <a:lnTo>
                  <a:pt x="1861880" y="22260"/>
                </a:lnTo>
                <a:lnTo>
                  <a:pt x="1207770" y="22260"/>
                </a:lnTo>
                <a:cubicBezTo>
                  <a:pt x="1120759" y="22260"/>
                  <a:pt x="1050217" y="92802"/>
                  <a:pt x="1050217" y="179813"/>
                </a:cubicBezTo>
                <a:lnTo>
                  <a:pt x="1050217" y="833895"/>
                </a:lnTo>
                <a:lnTo>
                  <a:pt x="1050217" y="1650854"/>
                </a:lnTo>
                <a:lnTo>
                  <a:pt x="689515" y="1650854"/>
                </a:lnTo>
                <a:cubicBezTo>
                  <a:pt x="309315" y="1650863"/>
                  <a:pt x="0" y="1960169"/>
                  <a:pt x="0" y="2340378"/>
                </a:cubicBezTo>
                <a:lnTo>
                  <a:pt x="0" y="4165016"/>
                </a:lnTo>
                <a:cubicBezTo>
                  <a:pt x="0" y="4545216"/>
                  <a:pt x="309315" y="4854540"/>
                  <a:pt x="689515" y="4854540"/>
                </a:cubicBezTo>
                <a:lnTo>
                  <a:pt x="4131430" y="4854540"/>
                </a:lnTo>
                <a:cubicBezTo>
                  <a:pt x="4218442" y="4854540"/>
                  <a:pt x="4288984" y="4783998"/>
                  <a:pt x="4288984" y="4696988"/>
                </a:cubicBezTo>
                <a:lnTo>
                  <a:pt x="4288984" y="3998481"/>
                </a:lnTo>
                <a:lnTo>
                  <a:pt x="4570876" y="3998481"/>
                </a:lnTo>
                <a:cubicBezTo>
                  <a:pt x="4739564" y="3998481"/>
                  <a:pt x="4876800" y="3861245"/>
                  <a:pt x="4876800" y="3692557"/>
                </a:cubicBezTo>
                <a:lnTo>
                  <a:pt x="4876800" y="2812866"/>
                </a:lnTo>
                <a:cubicBezTo>
                  <a:pt x="4876800" y="2644169"/>
                  <a:pt x="4739554" y="2506923"/>
                  <a:pt x="4570876" y="2506923"/>
                </a:cubicBezTo>
                <a:close/>
                <a:moveTo>
                  <a:pt x="2923670" y="337375"/>
                </a:moveTo>
                <a:lnTo>
                  <a:pt x="2923670" y="650738"/>
                </a:lnTo>
                <a:cubicBezTo>
                  <a:pt x="2776394" y="601342"/>
                  <a:pt x="2659713" y="484651"/>
                  <a:pt x="2610307" y="337376"/>
                </a:cubicBezTo>
                <a:lnTo>
                  <a:pt x="2923670" y="337376"/>
                </a:lnTo>
                <a:close/>
                <a:moveTo>
                  <a:pt x="1365323" y="337375"/>
                </a:moveTo>
                <a:lnTo>
                  <a:pt x="1678686" y="337375"/>
                </a:lnTo>
                <a:cubicBezTo>
                  <a:pt x="1629289" y="484651"/>
                  <a:pt x="1512599" y="601332"/>
                  <a:pt x="1365323" y="650738"/>
                </a:cubicBezTo>
                <a:lnTo>
                  <a:pt x="1365323" y="337375"/>
                </a:lnTo>
                <a:close/>
                <a:moveTo>
                  <a:pt x="1365323" y="975989"/>
                </a:moveTo>
                <a:cubicBezTo>
                  <a:pt x="1686706" y="912505"/>
                  <a:pt x="1940452" y="658749"/>
                  <a:pt x="2003936" y="337376"/>
                </a:cubicBezTo>
                <a:lnTo>
                  <a:pt x="2285047" y="337376"/>
                </a:lnTo>
                <a:cubicBezTo>
                  <a:pt x="2348541" y="658759"/>
                  <a:pt x="2602287" y="912495"/>
                  <a:pt x="2923670" y="975989"/>
                </a:cubicBezTo>
                <a:lnTo>
                  <a:pt x="2923670" y="1650873"/>
                </a:lnTo>
                <a:lnTo>
                  <a:pt x="2922565" y="1650873"/>
                </a:lnTo>
                <a:cubicBezTo>
                  <a:pt x="2822524" y="1311735"/>
                  <a:pt x="2509714" y="1070315"/>
                  <a:pt x="2144496" y="1070315"/>
                </a:cubicBezTo>
                <a:cubicBezTo>
                  <a:pt x="1779280" y="1070315"/>
                  <a:pt x="1466450" y="1311735"/>
                  <a:pt x="1366428" y="1650873"/>
                </a:cubicBezTo>
                <a:lnTo>
                  <a:pt x="1365323" y="1650873"/>
                </a:lnTo>
                <a:lnTo>
                  <a:pt x="1365323" y="975989"/>
                </a:lnTo>
                <a:close/>
                <a:moveTo>
                  <a:pt x="2584285" y="1650863"/>
                </a:moveTo>
                <a:lnTo>
                  <a:pt x="1704699" y="1650863"/>
                </a:lnTo>
                <a:cubicBezTo>
                  <a:pt x="1788119" y="1491815"/>
                  <a:pt x="1954787" y="1385421"/>
                  <a:pt x="2144497" y="1385421"/>
                </a:cubicBezTo>
                <a:quadBezTo>
                  <a:pt x="2500865" y="1491824"/>
                  <a:pt x="2584285" y="1650863"/>
                </a:quadBezTo>
                <a:close/>
                <a:moveTo>
                  <a:pt x="3973868" y="4539415"/>
                </a:moveTo>
                <a:lnTo>
                  <a:pt x="689515" y="4539415"/>
                </a:lnTo>
                <a:cubicBezTo>
                  <a:pt x="483070" y="4539415"/>
                  <a:pt x="315116" y="4371460"/>
                  <a:pt x="315116" y="4165016"/>
                </a:cubicBezTo>
                <a:lnTo>
                  <a:pt x="315116" y="2340378"/>
                </a:lnTo>
                <a:cubicBezTo>
                  <a:pt x="315116" y="2133934"/>
                  <a:pt x="483070" y="1965979"/>
                  <a:pt x="689515" y="1965979"/>
                </a:cubicBezTo>
                <a:cubicBezTo>
                  <a:pt x="925640" y="1965979"/>
                  <a:pt x="3884019" y="1965979"/>
                  <a:pt x="3973868" y="1965979"/>
                </a:cubicBezTo>
                <a:lnTo>
                  <a:pt x="3973868" y="2511581"/>
                </a:lnTo>
                <a:cubicBezTo>
                  <a:pt x="3601059" y="2553310"/>
                  <a:pt x="3311728" y="2871083"/>
                  <a:pt x="3311728" y="3252702"/>
                </a:cubicBezTo>
                <a:cubicBezTo>
                  <a:pt x="3311728" y="3628758"/>
                  <a:pt x="3595582" y="3951466"/>
                  <a:pt x="3973868" y="3993823"/>
                </a:cubicBezTo>
                <a:lnTo>
                  <a:pt x="3973868" y="4539415"/>
                </a:lnTo>
                <a:close/>
                <a:moveTo>
                  <a:pt x="4561684" y="3683356"/>
                </a:moveTo>
                <a:cubicBezTo>
                  <a:pt x="4487084" y="3683356"/>
                  <a:pt x="4124477" y="3683356"/>
                  <a:pt x="4057498" y="3683356"/>
                </a:cubicBezTo>
                <a:cubicBezTo>
                  <a:pt x="3820039" y="3683356"/>
                  <a:pt x="3626844" y="3490160"/>
                  <a:pt x="3626844" y="3252702"/>
                </a:cubicBezTo>
                <a:quadBezTo>
                  <a:pt x="3820039" y="2822048"/>
                  <a:pt x="4057498" y="2822048"/>
                </a:quadBezTo>
                <a:cubicBezTo>
                  <a:pt x="4124544" y="2822048"/>
                  <a:pt x="4487238" y="2822048"/>
                  <a:pt x="4561684" y="2822048"/>
                </a:cubicBezTo>
                <a:lnTo>
                  <a:pt x="4561684" y="3683356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子内容2-[2]【1】"/>
          <p:cNvSpPr txBox="1"/>
          <p:nvPr>
            <p:custDataLst>
              <p:tags r:id="rId16"/>
            </p:custDataLst>
          </p:nvPr>
        </p:nvSpPr>
        <p:spPr>
          <a:xfrm>
            <a:off x="4785508" y="3639350"/>
            <a:ext cx="2550259" cy="272113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MPC钱包通过将私钥拆分并加密，使得用户无需记忆助记词即可拥有安全钱包。这一创新不仅提升了用户体验，还确保了钱包的安全性，让资产保护更加到位。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标题2-[2]【1】"/>
          <p:cNvSpPr txBox="1"/>
          <p:nvPr>
            <p:custDataLst>
              <p:tags r:id="rId17"/>
            </p:custDataLst>
          </p:nvPr>
        </p:nvSpPr>
        <p:spPr>
          <a:xfrm>
            <a:off x="4574105" y="3184510"/>
            <a:ext cx="2974974" cy="376977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MPC钱包实现免助记词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装饰3-子标题3-[3]【1】"/>
          <p:cNvSpPr/>
          <p:nvPr>
            <p:custDataLst>
              <p:tags r:id="rId18"/>
            </p:custDataLst>
          </p:nvPr>
        </p:nvSpPr>
        <p:spPr>
          <a:xfrm>
            <a:off x="8401270" y="1673488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222"/>
                </a:lnTo>
                <a:cubicBezTo>
                  <a:pt x="3093920" y="596760"/>
                  <a:pt x="3069688" y="567128"/>
                  <a:pt x="3031350" y="552393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/>
                </a:gs>
                <a:gs pos="39000">
                  <a:schemeClr val="accent1"/>
                </a:gs>
                <a:gs pos="7000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装饰3-子标题3-[3]【1】"/>
          <p:cNvSpPr/>
          <p:nvPr>
            <p:custDataLst>
              <p:tags r:id="rId19"/>
            </p:custDataLst>
          </p:nvPr>
        </p:nvSpPr>
        <p:spPr>
          <a:xfrm>
            <a:off x="8401270" y="1456077"/>
            <a:ext cx="3093917" cy="4543118"/>
          </a:xfrm>
          <a:custGeom>
            <a:avLst/>
            <a:gdLst/>
            <a:ahLst/>
            <a:cxnLst/>
            <a:rect l="l" t="t" r="r" b="b"/>
            <a:pathLst>
              <a:path w="3093917" h="4543118">
                <a:moveTo>
                  <a:pt x="1517218" y="9106"/>
                </a:moveTo>
                <a:lnTo>
                  <a:pt x="63665" y="552717"/>
                </a:lnTo>
                <a:cubicBezTo>
                  <a:pt x="24670" y="567290"/>
                  <a:pt x="0" y="597265"/>
                  <a:pt x="0" y="630050"/>
                </a:cubicBezTo>
                <a:lnTo>
                  <a:pt x="0" y="4456852"/>
                </a:lnTo>
                <a:cubicBezTo>
                  <a:pt x="0" y="4504534"/>
                  <a:pt x="51330" y="4543120"/>
                  <a:pt x="114776" y="4543120"/>
                </a:cubicBezTo>
                <a:lnTo>
                  <a:pt x="2979144" y="4543120"/>
                </a:lnTo>
                <a:cubicBezTo>
                  <a:pt x="3042590" y="4543120"/>
                  <a:pt x="3093920" y="4504534"/>
                  <a:pt x="3093920" y="4456852"/>
                </a:cubicBezTo>
                <a:lnTo>
                  <a:pt x="3093920" y="629384"/>
                </a:lnTo>
                <a:cubicBezTo>
                  <a:pt x="3093920" y="596932"/>
                  <a:pt x="3069688" y="567290"/>
                  <a:pt x="3031350" y="552555"/>
                </a:cubicBezTo>
                <a:lnTo>
                  <a:pt x="1620536" y="9439"/>
                </a:lnTo>
                <a:cubicBezTo>
                  <a:pt x="1588151" y="-2981"/>
                  <a:pt x="1549603" y="-3143"/>
                  <a:pt x="1516999" y="8944"/>
                </a:cubicBezTo>
                <a:close/>
              </a:path>
            </a:pathLst>
          </a:custGeom>
          <a:ln w="22022">
            <a:gradFill rotWithShape="1">
              <a:gsLst>
                <a:gs pos="0">
                  <a:schemeClr val="accent1">
                    <a:alpha val="30000"/>
                  </a:schemeClr>
                </a:gs>
                <a:gs pos="44000">
                  <a:srgbClr val="55D2F7">
                    <a:alpha val="0"/>
                  </a:srgbClr>
                </a:gs>
                <a:gs pos="74000">
                  <a:srgbClr val="55D2F7">
                    <a:alpha val="0"/>
                  </a:srgbClr>
                </a:gs>
                <a:gs pos="100000">
                  <a:schemeClr val="accent1">
                    <a:alpha val="0"/>
                  </a:schemeClr>
                </a:gs>
              </a:gsLst>
              <a:lin ang="5400000"/>
            </a:gra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装饰3-子标题3-[3]【1】"/>
          <p:cNvSpPr/>
          <p:nvPr>
            <p:custDataLst>
              <p:tags r:id="rId20"/>
            </p:custDataLst>
          </p:nvPr>
        </p:nvSpPr>
        <p:spPr>
          <a:xfrm>
            <a:off x="8401270" y="2314574"/>
            <a:ext cx="3093917" cy="4141133"/>
          </a:xfrm>
          <a:custGeom>
            <a:avLst/>
            <a:gdLst/>
            <a:ahLst/>
            <a:cxnLst/>
            <a:rect l="l" t="t" r="r" b="b"/>
            <a:pathLst>
              <a:path w="3093917" h="4141133">
                <a:moveTo>
                  <a:pt x="1517218" y="8153"/>
                </a:moveTo>
                <a:lnTo>
                  <a:pt x="63665" y="503682"/>
                </a:lnTo>
                <a:cubicBezTo>
                  <a:pt x="24670" y="516960"/>
                  <a:pt x="0" y="544287"/>
                  <a:pt x="0" y="574167"/>
                </a:cubicBezTo>
                <a:lnTo>
                  <a:pt x="0" y="4062498"/>
                </a:lnTo>
                <a:cubicBezTo>
                  <a:pt x="0" y="4105960"/>
                  <a:pt x="51330" y="4141137"/>
                  <a:pt x="114776" y="4141137"/>
                </a:cubicBezTo>
                <a:lnTo>
                  <a:pt x="2979144" y="4141137"/>
                </a:lnTo>
                <a:cubicBezTo>
                  <a:pt x="3042590" y="4141137"/>
                  <a:pt x="3093920" y="4105960"/>
                  <a:pt x="3093920" y="4062498"/>
                </a:cubicBezTo>
                <a:lnTo>
                  <a:pt x="3093920" y="573567"/>
                </a:lnTo>
                <a:cubicBezTo>
                  <a:pt x="3093920" y="543982"/>
                  <a:pt x="3069688" y="516960"/>
                  <a:pt x="3031350" y="503530"/>
                </a:cubicBezTo>
                <a:lnTo>
                  <a:pt x="1620536" y="8601"/>
                </a:lnTo>
                <a:cubicBezTo>
                  <a:pt x="1588151" y="-2715"/>
                  <a:pt x="1549603" y="-2867"/>
                  <a:pt x="1516999" y="8153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/>
              </a:gs>
            </a:gsLst>
            <a:lin ang="54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装饰3-子标题3-[3]【1】"/>
          <p:cNvSpPr/>
          <p:nvPr>
            <p:custDataLst>
              <p:tags r:id="rId21"/>
            </p:custDataLst>
          </p:nvPr>
        </p:nvSpPr>
        <p:spPr>
          <a:xfrm>
            <a:off x="9451961" y="1953282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icon3-[3]【1】"/>
          <p:cNvSpPr/>
          <p:nvPr>
            <p:custDataLst>
              <p:tags r:id="rId22"/>
            </p:custDataLst>
          </p:nvPr>
        </p:nvSpPr>
        <p:spPr>
          <a:xfrm>
            <a:off x="9685621" y="2185756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2190750" h="2190750">
                <a:moveTo>
                  <a:pt x="2133600" y="188909"/>
                </a:moveTo>
                <a:lnTo>
                  <a:pt x="57150" y="188909"/>
                </a:lnTo>
                <a:cubicBezTo>
                  <a:pt x="25594" y="188909"/>
                  <a:pt x="0" y="214503"/>
                  <a:pt x="0" y="246059"/>
                </a:cubicBezTo>
                <a:lnTo>
                  <a:pt x="0" y="1582074"/>
                </a:lnTo>
                <a:cubicBezTo>
                  <a:pt x="0" y="1613630"/>
                  <a:pt x="25594" y="1639224"/>
                  <a:pt x="57150" y="1639224"/>
                </a:cubicBezTo>
                <a:lnTo>
                  <a:pt x="1038225" y="1639224"/>
                </a:lnTo>
                <a:lnTo>
                  <a:pt x="1038225" y="1742742"/>
                </a:lnTo>
                <a:lnTo>
                  <a:pt x="863927" y="1742742"/>
                </a:lnTo>
                <a:cubicBezTo>
                  <a:pt x="752580" y="1742742"/>
                  <a:pt x="661988" y="1833334"/>
                  <a:pt x="661988" y="1944681"/>
                </a:cubicBezTo>
                <a:cubicBezTo>
                  <a:pt x="661988" y="1976238"/>
                  <a:pt x="687581" y="2001831"/>
                  <a:pt x="719138" y="2001831"/>
                </a:cubicBezTo>
                <a:lnTo>
                  <a:pt x="1471612" y="2001831"/>
                </a:lnTo>
                <a:cubicBezTo>
                  <a:pt x="1503169" y="2001831"/>
                  <a:pt x="1528762" y="1976238"/>
                  <a:pt x="1528762" y="1944681"/>
                </a:cubicBezTo>
                <a:cubicBezTo>
                  <a:pt x="1528762" y="1833334"/>
                  <a:pt x="1438170" y="1742742"/>
                  <a:pt x="1326823" y="1742742"/>
                </a:cubicBezTo>
                <a:lnTo>
                  <a:pt x="1152525" y="1742742"/>
                </a:lnTo>
                <a:lnTo>
                  <a:pt x="1152525" y="1639224"/>
                </a:lnTo>
                <a:lnTo>
                  <a:pt x="2133600" y="1639224"/>
                </a:lnTo>
                <a:cubicBezTo>
                  <a:pt x="2165156" y="1639224"/>
                  <a:pt x="2190750" y="1613630"/>
                  <a:pt x="2190750" y="1582074"/>
                </a:cubicBezTo>
                <a:lnTo>
                  <a:pt x="2190750" y="246059"/>
                </a:lnTo>
                <a:cubicBezTo>
                  <a:pt x="2190750" y="214503"/>
                  <a:pt x="2165156" y="188909"/>
                  <a:pt x="2133600" y="188909"/>
                </a:cubicBezTo>
                <a:close/>
                <a:moveTo>
                  <a:pt x="1393212" y="1887541"/>
                </a:moveTo>
                <a:lnTo>
                  <a:pt x="797538" y="1887541"/>
                </a:lnTo>
                <a:cubicBezTo>
                  <a:pt x="813616" y="1868881"/>
                  <a:pt x="837419" y="1857051"/>
                  <a:pt x="863927" y="1857051"/>
                </a:cubicBezTo>
                <a:lnTo>
                  <a:pt x="1326823" y="1857051"/>
                </a:lnTo>
                <a:cubicBezTo>
                  <a:pt x="1353331" y="1857042"/>
                  <a:pt x="1377134" y="1868881"/>
                  <a:pt x="1393212" y="1887541"/>
                </a:cubicBezTo>
                <a:close/>
                <a:moveTo>
                  <a:pt x="2076450" y="1524924"/>
                </a:moveTo>
                <a:lnTo>
                  <a:pt x="114300" y="1524924"/>
                </a:lnTo>
                <a:lnTo>
                  <a:pt x="114300" y="303209"/>
                </a:lnTo>
                <a:lnTo>
                  <a:pt x="2076450" y="303209"/>
                </a:lnTo>
                <a:lnTo>
                  <a:pt x="2076450" y="1524924"/>
                </a:lnTo>
                <a:close/>
              </a:path>
              <a:path w="2190750" h="2190750">
                <a:moveTo>
                  <a:pt x="1992754" y="377066"/>
                </a:moveTo>
                <a:lnTo>
                  <a:pt x="197996" y="377066"/>
                </a:lnTo>
                <a:lnTo>
                  <a:pt x="197996" y="1451067"/>
                </a:lnTo>
                <a:lnTo>
                  <a:pt x="1992754" y="1451067"/>
                </a:lnTo>
                <a:lnTo>
                  <a:pt x="1992754" y="377066"/>
                </a:lnTo>
                <a:close/>
                <a:moveTo>
                  <a:pt x="1878454" y="1336767"/>
                </a:moveTo>
                <a:lnTo>
                  <a:pt x="312296" y="1336767"/>
                </a:lnTo>
                <a:lnTo>
                  <a:pt x="312296" y="491366"/>
                </a:lnTo>
                <a:lnTo>
                  <a:pt x="1878454" y="491366"/>
                </a:lnTo>
                <a:lnTo>
                  <a:pt x="1878454" y="1336767"/>
                </a:lnTo>
                <a:close/>
              </a:path>
              <a:path w="2190750" h="2190750">
                <a:moveTo>
                  <a:pt x="876833" y="1046302"/>
                </a:moveTo>
                <a:lnTo>
                  <a:pt x="963149" y="1046302"/>
                </a:lnTo>
                <a:lnTo>
                  <a:pt x="963149" y="1078249"/>
                </a:lnTo>
                <a:cubicBezTo>
                  <a:pt x="963149" y="1151163"/>
                  <a:pt x="1022471" y="1210485"/>
                  <a:pt x="1095385" y="1210485"/>
                </a:cubicBezTo>
                <a:quadBezTo>
                  <a:pt x="1227620" y="1151163"/>
                  <a:pt x="1227620" y="1078249"/>
                </a:quadBezTo>
                <a:lnTo>
                  <a:pt x="1227620" y="1046302"/>
                </a:lnTo>
                <a:lnTo>
                  <a:pt x="1313936" y="1046302"/>
                </a:lnTo>
                <a:cubicBezTo>
                  <a:pt x="1386850" y="1046302"/>
                  <a:pt x="1446171" y="986980"/>
                  <a:pt x="1446171" y="914066"/>
                </a:cubicBezTo>
                <a:cubicBezTo>
                  <a:pt x="1446171" y="841153"/>
                  <a:pt x="1386850" y="781831"/>
                  <a:pt x="1313936" y="781831"/>
                </a:cubicBezTo>
                <a:lnTo>
                  <a:pt x="1227620" y="781831"/>
                </a:lnTo>
                <a:lnTo>
                  <a:pt x="1227620" y="749884"/>
                </a:lnTo>
                <a:cubicBezTo>
                  <a:pt x="1227620" y="676970"/>
                  <a:pt x="1168298" y="617648"/>
                  <a:pt x="1095385" y="617648"/>
                </a:cubicBezTo>
                <a:quadBezTo>
                  <a:pt x="963149" y="676970"/>
                  <a:pt x="963149" y="749884"/>
                </a:quadBezTo>
                <a:lnTo>
                  <a:pt x="963149" y="781831"/>
                </a:lnTo>
                <a:lnTo>
                  <a:pt x="876833" y="781831"/>
                </a:lnTo>
                <a:cubicBezTo>
                  <a:pt x="803920" y="781831"/>
                  <a:pt x="744598" y="841153"/>
                  <a:pt x="744598" y="914066"/>
                </a:cubicBezTo>
                <a:cubicBezTo>
                  <a:pt x="744598" y="986981"/>
                  <a:pt x="803920" y="1046302"/>
                  <a:pt x="876833" y="1046302"/>
                </a:cubicBezTo>
                <a:close/>
                <a:moveTo>
                  <a:pt x="876833" y="858031"/>
                </a:moveTo>
                <a:lnTo>
                  <a:pt x="1039349" y="858031"/>
                </a:lnTo>
                <a:lnTo>
                  <a:pt x="1039349" y="749894"/>
                </a:lnTo>
                <a:cubicBezTo>
                  <a:pt x="1039349" y="718995"/>
                  <a:pt x="1064485" y="693858"/>
                  <a:pt x="1095385" y="693858"/>
                </a:cubicBezTo>
                <a:quadBezTo>
                  <a:pt x="1151420" y="718995"/>
                  <a:pt x="1151420" y="749894"/>
                </a:quadBezTo>
                <a:lnTo>
                  <a:pt x="1151420" y="858041"/>
                </a:lnTo>
                <a:lnTo>
                  <a:pt x="1313936" y="858041"/>
                </a:lnTo>
                <a:cubicBezTo>
                  <a:pt x="1344835" y="858041"/>
                  <a:pt x="1369971" y="883177"/>
                  <a:pt x="1369971" y="914076"/>
                </a:cubicBezTo>
                <a:cubicBezTo>
                  <a:pt x="1369971" y="944975"/>
                  <a:pt x="1344835" y="970112"/>
                  <a:pt x="1313936" y="970112"/>
                </a:cubicBezTo>
                <a:lnTo>
                  <a:pt x="1151420" y="970112"/>
                </a:lnTo>
                <a:lnTo>
                  <a:pt x="1151420" y="1078259"/>
                </a:lnTo>
                <a:cubicBezTo>
                  <a:pt x="1151420" y="1109158"/>
                  <a:pt x="1126284" y="1134294"/>
                  <a:pt x="1095385" y="1134294"/>
                </a:cubicBezTo>
                <a:quadBezTo>
                  <a:pt x="1039349" y="1109158"/>
                  <a:pt x="1039349" y="1078259"/>
                </a:quadBezTo>
                <a:lnTo>
                  <a:pt x="1039349" y="970112"/>
                </a:lnTo>
                <a:lnTo>
                  <a:pt x="876833" y="970112"/>
                </a:lnTo>
                <a:cubicBezTo>
                  <a:pt x="845934" y="970112"/>
                  <a:pt x="820798" y="944975"/>
                  <a:pt x="820798" y="914076"/>
                </a:cubicBezTo>
                <a:cubicBezTo>
                  <a:pt x="820798" y="883168"/>
                  <a:pt x="845934" y="858031"/>
                  <a:pt x="876833" y="858031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子内容3-[3]【1】"/>
          <p:cNvSpPr txBox="1"/>
          <p:nvPr>
            <p:custDataLst>
              <p:tags r:id="rId23"/>
            </p:custDataLst>
          </p:nvPr>
        </p:nvSpPr>
        <p:spPr>
          <a:xfrm>
            <a:off x="8640449" y="3639350"/>
            <a:ext cx="2550259" cy="2721137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MPC钱包的阈值机制（t-of-n）进一步分散了资产风险，通过设定最低签名阈值，确保了即使部分份额丢失，也能安全地恢复账户控制，从而提升了整体的安全性和恢复友好性。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5" name="子标题3-[3]【1】"/>
          <p:cNvSpPr txBox="1"/>
          <p:nvPr>
            <p:custDataLst>
              <p:tags r:id="rId24"/>
            </p:custDataLst>
          </p:nvPr>
        </p:nvSpPr>
        <p:spPr>
          <a:xfrm>
            <a:off x="8429048" y="3184510"/>
            <a:ext cx="2974974" cy="454840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资产风险分散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多因子备份机制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5" name="元素装饰1"/>
          <p:cNvSpPr/>
          <p:nvPr>
            <p:custDataLst>
              <p:tags r:id="rId4"/>
            </p:custDataLst>
          </p:nvPr>
        </p:nvSpPr>
        <p:spPr>
          <a:xfrm>
            <a:off x="825963" y="2607620"/>
            <a:ext cx="10553700" cy="12700"/>
          </a:xfrm>
          <a:custGeom>
            <a:avLst/>
            <a:gdLst/>
            <a:ahLst/>
            <a:cxnLst/>
            <a:rect l="l" t="t" r="r" b="b"/>
            <a:pathLst>
              <a:path w="10553700" h="9525">
                <a:moveTo>
                  <a:pt x="0" y="0"/>
                </a:moveTo>
                <a:lnTo>
                  <a:pt x="10553700" y="0"/>
                </a:lnTo>
              </a:path>
            </a:pathLst>
          </a:custGeom>
          <a:ln w="9525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元素装饰2"/>
          <p:cNvSpPr/>
          <p:nvPr>
            <p:custDataLst>
              <p:tags r:id="rId5"/>
            </p:custDataLst>
          </p:nvPr>
        </p:nvSpPr>
        <p:spPr>
          <a:xfrm>
            <a:off x="683088" y="248379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247650" y="123825"/>
                </a:moveTo>
                <a:cubicBezTo>
                  <a:pt x="247650" y="192214"/>
                  <a:pt x="192214" y="247650"/>
                  <a:pt x="123825" y="247650"/>
                </a:cubicBezTo>
                <a:cubicBezTo>
                  <a:pt x="55436" y="247650"/>
                  <a:pt x="0" y="192214"/>
                  <a:pt x="0" y="123825"/>
                </a:cubicBezTo>
                <a:cubicBezTo>
                  <a:pt x="0" y="55436"/>
                  <a:pt x="55436" y="0"/>
                  <a:pt x="123825" y="0"/>
                </a:cubicBezTo>
                <a:cubicBezTo>
                  <a:pt x="192214" y="0"/>
                  <a:pt x="247650" y="55436"/>
                  <a:pt x="247650" y="12382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元素装饰3"/>
          <p:cNvSpPr/>
          <p:nvPr>
            <p:custDataLst>
              <p:tags r:id="rId6"/>
            </p:custDataLst>
          </p:nvPr>
        </p:nvSpPr>
        <p:spPr>
          <a:xfrm>
            <a:off x="11255838" y="248379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247650" y="123825"/>
                </a:moveTo>
                <a:cubicBezTo>
                  <a:pt x="247650" y="192214"/>
                  <a:pt x="192214" y="247650"/>
                  <a:pt x="123825" y="247650"/>
                </a:cubicBezTo>
                <a:cubicBezTo>
                  <a:pt x="55436" y="247650"/>
                  <a:pt x="0" y="192214"/>
                  <a:pt x="0" y="123825"/>
                </a:cubicBezTo>
                <a:cubicBezTo>
                  <a:pt x="0" y="55436"/>
                  <a:pt x="55436" y="0"/>
                  <a:pt x="123825" y="0"/>
                </a:cubicBezTo>
                <a:cubicBezTo>
                  <a:pt x="192214" y="0"/>
                  <a:pt x="247650" y="55436"/>
                  <a:pt x="247650" y="12382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装饰1-子标题1-[1]【1】"/>
          <p:cNvSpPr/>
          <p:nvPr>
            <p:custDataLst>
              <p:tags r:id="rId7"/>
            </p:custDataLst>
          </p:nvPr>
        </p:nvSpPr>
        <p:spPr>
          <a:xfrm>
            <a:off x="1577199" y="2036120"/>
            <a:ext cx="2588704" cy="1143000"/>
          </a:xfrm>
          <a:custGeom>
            <a:avLst/>
            <a:gdLst/>
            <a:ahLst/>
            <a:cxnLst/>
            <a:rect l="l" t="t" r="r" b="b"/>
            <a:pathLst>
              <a:path w="2588704" h="1143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lnTo>
                  <a:pt x="2398204" y="0"/>
                </a:lnTo>
                <a:cubicBezTo>
                  <a:pt x="2503344" y="0"/>
                  <a:pt x="2588704" y="85360"/>
                  <a:pt x="2588704" y="190500"/>
                </a:cubicBezTo>
                <a:lnTo>
                  <a:pt x="2588704" y="952500"/>
                </a:lnTo>
                <a:cubicBezTo>
                  <a:pt x="2588704" y="1057640"/>
                  <a:pt x="2503344" y="1143000"/>
                  <a:pt x="2398204" y="1143000"/>
                </a:cubicBezTo>
                <a:lnTo>
                  <a:pt x="190500" y="1143000"/>
                </a:lnTo>
                <a:cubicBezTo>
                  <a:pt x="85360" y="1143000"/>
                  <a:pt x="0" y="1057640"/>
                  <a:pt x="0" y="95250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装饰2-子标题2-[1]【1】"/>
          <p:cNvSpPr/>
          <p:nvPr>
            <p:custDataLst>
              <p:tags r:id="rId8"/>
            </p:custDataLst>
          </p:nvPr>
        </p:nvSpPr>
        <p:spPr>
          <a:xfrm>
            <a:off x="4750834" y="2036120"/>
            <a:ext cx="2588704" cy="1143000"/>
          </a:xfrm>
          <a:custGeom>
            <a:avLst/>
            <a:gdLst/>
            <a:ahLst/>
            <a:cxnLst/>
            <a:rect l="l" t="t" r="r" b="b"/>
            <a:pathLst>
              <a:path w="2588704" h="1143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lnTo>
                  <a:pt x="2398204" y="0"/>
                </a:lnTo>
                <a:cubicBezTo>
                  <a:pt x="2503344" y="0"/>
                  <a:pt x="2588704" y="85360"/>
                  <a:pt x="2588704" y="190500"/>
                </a:cubicBezTo>
                <a:lnTo>
                  <a:pt x="2588704" y="952500"/>
                </a:lnTo>
                <a:cubicBezTo>
                  <a:pt x="2588704" y="1057640"/>
                  <a:pt x="2503344" y="1143000"/>
                  <a:pt x="2398204" y="1143000"/>
                </a:cubicBezTo>
                <a:lnTo>
                  <a:pt x="190500" y="1143000"/>
                </a:lnTo>
                <a:cubicBezTo>
                  <a:pt x="85360" y="1143000"/>
                  <a:pt x="0" y="1057640"/>
                  <a:pt x="0" y="95250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3-子标题3-[1]【1】"/>
          <p:cNvSpPr/>
          <p:nvPr>
            <p:custDataLst>
              <p:tags r:id="rId9"/>
            </p:custDataLst>
          </p:nvPr>
        </p:nvSpPr>
        <p:spPr>
          <a:xfrm>
            <a:off x="7924374" y="2036120"/>
            <a:ext cx="2588704" cy="1143000"/>
          </a:xfrm>
          <a:custGeom>
            <a:avLst/>
            <a:gdLst/>
            <a:ahLst/>
            <a:cxnLst/>
            <a:rect l="l" t="t" r="r" b="b"/>
            <a:pathLst>
              <a:path w="2588704" h="1143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lnTo>
                  <a:pt x="2398204" y="0"/>
                </a:lnTo>
                <a:cubicBezTo>
                  <a:pt x="2503344" y="0"/>
                  <a:pt x="2588704" y="85360"/>
                  <a:pt x="2588704" y="190500"/>
                </a:cubicBezTo>
                <a:lnTo>
                  <a:pt x="2588704" y="952500"/>
                </a:lnTo>
                <a:cubicBezTo>
                  <a:pt x="2588704" y="1057640"/>
                  <a:pt x="2503344" y="1143000"/>
                  <a:pt x="2398204" y="1143000"/>
                </a:cubicBezTo>
                <a:lnTo>
                  <a:pt x="190500" y="1143000"/>
                </a:lnTo>
                <a:cubicBezTo>
                  <a:pt x="85360" y="1143000"/>
                  <a:pt x="0" y="1057640"/>
                  <a:pt x="0" y="95250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子内容1-[1]【1】"/>
          <p:cNvSpPr txBox="1"/>
          <p:nvPr>
            <p:custDataLst>
              <p:tags r:id="rId10"/>
            </p:custDataLst>
          </p:nvPr>
        </p:nvSpPr>
        <p:spPr>
          <a:xfrm>
            <a:off x="1495217" y="3900916"/>
            <a:ext cx="2692686" cy="2524258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备份原则强调云端只保存“加密后的备份数据”，不保存明文，确保了数据的安全性。用户可将此加密数据存储于Google Drive、iCloud等可选位置，便于换设备或丢设备时快速恢复账号能力。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子标题1-[1]【1】"/>
          <p:cNvSpPr txBox="1"/>
          <p:nvPr>
            <p:custDataLst>
              <p:tags r:id="rId11"/>
            </p:custDataLst>
          </p:nvPr>
        </p:nvSpPr>
        <p:spPr>
          <a:xfrm>
            <a:off x="1370819" y="3476539"/>
            <a:ext cx="2974976" cy="3807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备份原则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内容2-[2]【1】"/>
          <p:cNvSpPr txBox="1"/>
          <p:nvPr>
            <p:custDataLst>
              <p:tags r:id="rId12"/>
            </p:custDataLst>
          </p:nvPr>
        </p:nvSpPr>
        <p:spPr>
          <a:xfrm>
            <a:off x="4709795" y="3900915"/>
            <a:ext cx="2692686" cy="2524259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当设备丢失或更换时，用户可通过云端存储的加密备份数据轻松恢复账号，这一过程不仅便捷，而且安全，确保了账号能力的快速无缝转移。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标题2-[2]【1】"/>
          <p:cNvSpPr txBox="1"/>
          <p:nvPr>
            <p:custDataLst>
              <p:tags r:id="rId13"/>
            </p:custDataLst>
          </p:nvPr>
        </p:nvSpPr>
        <p:spPr>
          <a:xfrm>
            <a:off x="4585397" y="3476539"/>
            <a:ext cx="2974976" cy="3807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换设备恢复流程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子内容3-[3]【1】"/>
          <p:cNvSpPr txBox="1"/>
          <p:nvPr>
            <p:custDataLst>
              <p:tags r:id="rId14"/>
            </p:custDataLst>
          </p:nvPr>
        </p:nvSpPr>
        <p:spPr>
          <a:xfrm>
            <a:off x="7890880" y="3900915"/>
            <a:ext cx="2692686" cy="2524259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多因子备份（MFA）进一步增强了账户的安全性，通过额外的验证步骤，确保了只有授权用户才能访问账户，从而有效防止了未经授权的访问和使用，为账户安全提供了额外的保障。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标题3-[3]【1】"/>
          <p:cNvSpPr txBox="1"/>
          <p:nvPr>
            <p:custDataLst>
              <p:tags r:id="rId15"/>
            </p:custDataLst>
          </p:nvPr>
        </p:nvSpPr>
        <p:spPr>
          <a:xfrm>
            <a:off x="7766482" y="3476539"/>
            <a:ext cx="2974976" cy="3807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多因子备份的友好性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序号1-[1]【1】"/>
          <p:cNvSpPr txBox="1"/>
          <p:nvPr>
            <p:custDataLst>
              <p:tags r:id="rId16"/>
            </p:custDataLst>
          </p:nvPr>
        </p:nvSpPr>
        <p:spPr>
          <a:xfrm>
            <a:off x="2050867" y="1945901"/>
            <a:ext cx="1641368" cy="1323439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01</a:t>
            </a:r>
            <a:endParaRPr lang="zh-CN" altLang="en-US" sz="7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序号2-[2]【1】"/>
          <p:cNvSpPr txBox="1"/>
          <p:nvPr>
            <p:custDataLst>
              <p:tags r:id="rId17"/>
            </p:custDataLst>
          </p:nvPr>
        </p:nvSpPr>
        <p:spPr>
          <a:xfrm>
            <a:off x="5224502" y="1945901"/>
            <a:ext cx="1641368" cy="1323439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7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序号3-[3]【1】"/>
          <p:cNvSpPr txBox="1"/>
          <p:nvPr>
            <p:custDataLst>
              <p:tags r:id="rId18"/>
            </p:custDataLst>
          </p:nvPr>
        </p:nvSpPr>
        <p:spPr>
          <a:xfrm>
            <a:off x="8398042" y="1945901"/>
            <a:ext cx="1641368" cy="1323439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7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序号"/>
          <p:cNvSpPr/>
          <p:nvPr>
            <p:custDataLst>
              <p:tags r:id="rId1"/>
            </p:custDataLst>
          </p:nvPr>
        </p:nvSpPr>
        <p:spPr>
          <a:xfrm>
            <a:off x="5467547" y="1418031"/>
            <a:ext cx="1256905" cy="1159867"/>
          </a:xfrm>
          <a:custGeom>
            <a:avLst/>
            <a:gdLst/>
            <a:ahLst/>
            <a:cxnLst/>
            <a:rect l="l" t="t" r="r" b="b"/>
            <a:pathLst>
              <a:path w="1256905" h="1446550">
                <a:moveTo>
                  <a:pt x="0" y="0"/>
                </a:moveTo>
                <a:lnTo>
                  <a:pt x="1256909" y="0"/>
                </a:lnTo>
                <a:lnTo>
                  <a:pt x="1256909" y="1446552"/>
                </a:lnTo>
                <a:lnTo>
                  <a:pt x="0" y="1446552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02</a:t>
            </a:r>
            <a:endParaRPr lang="zh-CN" altLang="en-US" sz="8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" name="标题"/>
          <p:cNvSpPr txBox="1"/>
          <p:nvPr>
            <p:custDataLst>
              <p:tags r:id="rId2"/>
            </p:custDataLst>
          </p:nvPr>
        </p:nvSpPr>
        <p:spPr>
          <a:xfrm>
            <a:off x="1411550" y="2750185"/>
            <a:ext cx="9250532" cy="1357630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技术实现原理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4" name="副标题"/>
          <p:cNvSpPr txBox="1"/>
          <p:nvPr>
            <p:custDataLst>
              <p:tags r:id="rId3"/>
            </p:custDataLst>
          </p:nvPr>
        </p:nvSpPr>
        <p:spPr>
          <a:xfrm>
            <a:off x="2240280" y="4225290"/>
            <a:ext cx="7711440" cy="1176655"/>
          </a:xfrm>
          <a:prstGeom prst="rect">
            <a:avLst/>
          </a:prstGeom>
        </p:spPr>
        <p:txBody>
          <a:bodyPr spcFirstLastPara="0" wrap="square" lIns="38576" tIns="34290" rIns="38576" bIns="25718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Principle of Technical Implementation</a:t>
            </a:r>
            <a:endParaRPr lang="zh-CN" altLang="en-US" sz="14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装饰1-子标题1-[1]【1】"/>
          <p:cNvSpPr/>
          <p:nvPr>
            <p:custDataLst>
              <p:tags r:id="rId3"/>
            </p:custDataLst>
          </p:nvPr>
        </p:nvSpPr>
        <p:spPr>
          <a:xfrm>
            <a:off x="7230378" y="1505753"/>
            <a:ext cx="4606423" cy="2084470"/>
          </a:xfrm>
          <a:custGeom>
            <a:avLst/>
            <a:gdLst/>
            <a:ahLst/>
            <a:cxnLst/>
            <a:rect l="l" t="t" r="r" b="b"/>
            <a:pathLst>
              <a:path w="4606423" h="2084470">
                <a:moveTo>
                  <a:pt x="0" y="177746"/>
                </a:moveTo>
                <a:cubicBezTo>
                  <a:pt x="0" y="79645"/>
                  <a:pt x="79645" y="0"/>
                  <a:pt x="177746" y="0"/>
                </a:cubicBezTo>
                <a:lnTo>
                  <a:pt x="4428678" y="0"/>
                </a:lnTo>
                <a:cubicBezTo>
                  <a:pt x="4526778" y="0"/>
                  <a:pt x="4606424" y="79645"/>
                  <a:pt x="4606424" y="177746"/>
                </a:cubicBezTo>
                <a:lnTo>
                  <a:pt x="4606424" y="1906724"/>
                </a:lnTo>
                <a:cubicBezTo>
                  <a:pt x="4606424" y="2004825"/>
                  <a:pt x="4526778" y="2084470"/>
                  <a:pt x="4428678" y="2084470"/>
                </a:cubicBezTo>
                <a:lnTo>
                  <a:pt x="177746" y="2084470"/>
                </a:lnTo>
                <a:cubicBezTo>
                  <a:pt x="79645" y="2084470"/>
                  <a:pt x="0" y="2004825"/>
                  <a:pt x="0" y="1906724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子标题1-[1]【1】"/>
          <p:cNvSpPr/>
          <p:nvPr>
            <p:custDataLst>
              <p:tags r:id="rId4"/>
            </p:custDataLst>
          </p:nvPr>
        </p:nvSpPr>
        <p:spPr>
          <a:xfrm>
            <a:off x="207027" y="1285774"/>
            <a:ext cx="2163778" cy="1873859"/>
          </a:xfrm>
          <a:custGeom>
            <a:avLst/>
            <a:gdLst/>
            <a:ahLst/>
            <a:cxnLst/>
            <a:rect l="l" t="t" r="r" b="b"/>
            <a:pathLst>
              <a:path w="2163778" h="1873859">
                <a:moveTo>
                  <a:pt x="312315" y="0"/>
                </a:moveTo>
                <a:lnTo>
                  <a:pt x="647014" y="0"/>
                </a:lnTo>
                <a:cubicBezTo>
                  <a:pt x="647014" y="160115"/>
                  <a:pt x="776811" y="289922"/>
                  <a:pt x="936927" y="289922"/>
                </a:cubicBezTo>
                <a:cubicBezTo>
                  <a:pt x="1097051" y="289922"/>
                  <a:pt x="1226848" y="160115"/>
                  <a:pt x="1226848" y="0"/>
                </a:cubicBezTo>
                <a:lnTo>
                  <a:pt x="1561548" y="0"/>
                </a:lnTo>
                <a:cubicBezTo>
                  <a:pt x="1734026" y="0"/>
                  <a:pt x="1873863" y="139827"/>
                  <a:pt x="1873863" y="312315"/>
                </a:cubicBezTo>
                <a:lnTo>
                  <a:pt x="1873863" y="647014"/>
                </a:lnTo>
                <a:cubicBezTo>
                  <a:pt x="2033978" y="647014"/>
                  <a:pt x="2163775" y="776811"/>
                  <a:pt x="2163775" y="936927"/>
                </a:cubicBezTo>
                <a:cubicBezTo>
                  <a:pt x="2163775" y="1097051"/>
                  <a:pt x="2033978" y="1226848"/>
                  <a:pt x="1873863" y="1226848"/>
                </a:cubicBezTo>
                <a:lnTo>
                  <a:pt x="1873863" y="1561548"/>
                </a:lnTo>
                <a:cubicBezTo>
                  <a:pt x="1873863" y="1734026"/>
                  <a:pt x="1734026" y="1873863"/>
                  <a:pt x="1561548" y="1873863"/>
                </a:cubicBezTo>
                <a:lnTo>
                  <a:pt x="312315" y="1873863"/>
                </a:lnTo>
                <a:cubicBezTo>
                  <a:pt x="139827" y="1873863"/>
                  <a:pt x="0" y="1734026"/>
                  <a:pt x="0" y="1561548"/>
                </a:cubicBezTo>
                <a:lnTo>
                  <a:pt x="0" y="312315"/>
                </a:lnTo>
                <a:cubicBezTo>
                  <a:pt x="0" y="139827"/>
                  <a:pt x="139827" y="0"/>
                  <a:pt x="31231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icon1-[1]【1】"/>
          <p:cNvSpPr/>
          <p:nvPr>
            <p:custDataLst>
              <p:tags r:id="rId5"/>
            </p:custDataLst>
          </p:nvPr>
        </p:nvSpPr>
        <p:spPr>
          <a:xfrm>
            <a:off x="911823" y="20558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8580" y="85030"/>
                </a:moveTo>
                <a:cubicBezTo>
                  <a:pt x="218132" y="81563"/>
                  <a:pt x="218580" y="77495"/>
                  <a:pt x="218580" y="77495"/>
                </a:cubicBezTo>
                <a:lnTo>
                  <a:pt x="218580" y="77391"/>
                </a:lnTo>
                <a:cubicBezTo>
                  <a:pt x="220370" y="68313"/>
                  <a:pt x="228343" y="61465"/>
                  <a:pt x="237925" y="61465"/>
                </a:cubicBezTo>
                <a:cubicBezTo>
                  <a:pt x="237973" y="61465"/>
                  <a:pt x="238030" y="61465"/>
                  <a:pt x="238077" y="61465"/>
                </a:cubicBezTo>
                <a:lnTo>
                  <a:pt x="238125" y="61465"/>
                </a:lnTo>
                <a:cubicBezTo>
                  <a:pt x="249031" y="61465"/>
                  <a:pt x="257927" y="70342"/>
                  <a:pt x="257927" y="81210"/>
                </a:cubicBezTo>
                <a:cubicBezTo>
                  <a:pt x="257927" y="92116"/>
                  <a:pt x="249041" y="100994"/>
                  <a:pt x="238125" y="100994"/>
                </a:cubicBezTo>
                <a:cubicBezTo>
                  <a:pt x="238077" y="100994"/>
                  <a:pt x="238020" y="100946"/>
                  <a:pt x="238020" y="100946"/>
                </a:cubicBezTo>
                <a:lnTo>
                  <a:pt x="237915" y="100946"/>
                </a:lnTo>
                <a:cubicBezTo>
                  <a:pt x="228495" y="100946"/>
                  <a:pt x="220399" y="94307"/>
                  <a:pt x="218570" y="85020"/>
                </a:cubicBezTo>
                <a:close/>
                <a:moveTo>
                  <a:pt x="304800" y="19545"/>
                </a:moveTo>
                <a:lnTo>
                  <a:pt x="304800" y="285255"/>
                </a:lnTo>
                <a:cubicBezTo>
                  <a:pt x="304800" y="296066"/>
                  <a:pt x="296609" y="304800"/>
                  <a:pt x="286502" y="304800"/>
                </a:cubicBezTo>
                <a:lnTo>
                  <a:pt x="18355" y="304800"/>
                </a:lnTo>
                <a:cubicBezTo>
                  <a:pt x="8230" y="304800"/>
                  <a:pt x="0" y="296066"/>
                  <a:pt x="0" y="285255"/>
                </a:cubicBezTo>
                <a:lnTo>
                  <a:pt x="0" y="19545"/>
                </a:lnTo>
                <a:cubicBezTo>
                  <a:pt x="0" y="8773"/>
                  <a:pt x="8230" y="0"/>
                  <a:pt x="18355" y="0"/>
                </a:cubicBezTo>
                <a:lnTo>
                  <a:pt x="286502" y="0"/>
                </a:lnTo>
                <a:cubicBezTo>
                  <a:pt x="296609" y="0"/>
                  <a:pt x="304800" y="8773"/>
                  <a:pt x="304800" y="19545"/>
                </a:cubicBezTo>
                <a:close/>
                <a:moveTo>
                  <a:pt x="275530" y="222847"/>
                </a:moveTo>
                <a:cubicBezTo>
                  <a:pt x="275530" y="202054"/>
                  <a:pt x="258718" y="185242"/>
                  <a:pt x="237925" y="185242"/>
                </a:cubicBezTo>
                <a:cubicBezTo>
                  <a:pt x="221209" y="185242"/>
                  <a:pt x="206483" y="196253"/>
                  <a:pt x="201816" y="212331"/>
                </a:cubicBezTo>
                <a:lnTo>
                  <a:pt x="179489" y="212331"/>
                </a:lnTo>
                <a:lnTo>
                  <a:pt x="144666" y="152352"/>
                </a:lnTo>
                <a:lnTo>
                  <a:pt x="144713" y="152305"/>
                </a:lnTo>
                <a:lnTo>
                  <a:pt x="179432" y="92526"/>
                </a:lnTo>
                <a:lnTo>
                  <a:pt x="201654" y="92526"/>
                </a:lnTo>
                <a:cubicBezTo>
                  <a:pt x="207454" y="112462"/>
                  <a:pt x="228333" y="123930"/>
                  <a:pt x="248288" y="118129"/>
                </a:cubicBezTo>
                <a:cubicBezTo>
                  <a:pt x="268224" y="112328"/>
                  <a:pt x="279730" y="91430"/>
                  <a:pt x="273882" y="71495"/>
                </a:cubicBezTo>
                <a:cubicBezTo>
                  <a:pt x="268081" y="51559"/>
                  <a:pt x="247202" y="40091"/>
                  <a:pt x="227257" y="45891"/>
                </a:cubicBezTo>
                <a:cubicBezTo>
                  <a:pt x="214903" y="49473"/>
                  <a:pt x="205226" y="59141"/>
                  <a:pt x="201654" y="71495"/>
                </a:cubicBezTo>
                <a:lnTo>
                  <a:pt x="167821" y="71495"/>
                </a:lnTo>
                <a:lnTo>
                  <a:pt x="167478" y="71295"/>
                </a:lnTo>
                <a:lnTo>
                  <a:pt x="126492" y="141789"/>
                </a:lnTo>
                <a:lnTo>
                  <a:pt x="126149" y="142332"/>
                </a:lnTo>
                <a:lnTo>
                  <a:pt x="101841" y="142332"/>
                </a:lnTo>
                <a:cubicBezTo>
                  <a:pt x="96022" y="122396"/>
                  <a:pt x="75095" y="110928"/>
                  <a:pt x="55159" y="116729"/>
                </a:cubicBezTo>
                <a:cubicBezTo>
                  <a:pt x="35204" y="122530"/>
                  <a:pt x="23755" y="143427"/>
                  <a:pt x="29556" y="163363"/>
                </a:cubicBezTo>
                <a:cubicBezTo>
                  <a:pt x="35357" y="183318"/>
                  <a:pt x="56255" y="194824"/>
                  <a:pt x="76190" y="189014"/>
                </a:cubicBezTo>
                <a:cubicBezTo>
                  <a:pt x="88544" y="185395"/>
                  <a:pt x="98212" y="175717"/>
                  <a:pt x="101841" y="163363"/>
                </a:cubicBezTo>
                <a:lnTo>
                  <a:pt x="126730" y="163363"/>
                </a:lnTo>
                <a:lnTo>
                  <a:pt x="167469" y="233467"/>
                </a:lnTo>
                <a:lnTo>
                  <a:pt x="167659" y="233363"/>
                </a:lnTo>
                <a:lnTo>
                  <a:pt x="201797" y="233363"/>
                </a:lnTo>
                <a:cubicBezTo>
                  <a:pt x="206454" y="249441"/>
                  <a:pt x="221190" y="260452"/>
                  <a:pt x="237906" y="260452"/>
                </a:cubicBezTo>
                <a:cubicBezTo>
                  <a:pt x="258699" y="260452"/>
                  <a:pt x="275511" y="243640"/>
                  <a:pt x="275511" y="222847"/>
                </a:cubicBezTo>
                <a:close/>
                <a:moveTo>
                  <a:pt x="238325" y="202311"/>
                </a:moveTo>
                <a:cubicBezTo>
                  <a:pt x="228848" y="202311"/>
                  <a:pt x="220761" y="208950"/>
                  <a:pt x="218923" y="218237"/>
                </a:cubicBezTo>
                <a:cubicBezTo>
                  <a:pt x="218875" y="218580"/>
                  <a:pt x="218875" y="218923"/>
                  <a:pt x="218818" y="219275"/>
                </a:cubicBezTo>
                <a:cubicBezTo>
                  <a:pt x="218780" y="219513"/>
                  <a:pt x="218627" y="219666"/>
                  <a:pt x="218580" y="219856"/>
                </a:cubicBezTo>
                <a:cubicBezTo>
                  <a:pt x="218084" y="223676"/>
                  <a:pt x="218580" y="227505"/>
                  <a:pt x="218580" y="227505"/>
                </a:cubicBezTo>
                <a:cubicBezTo>
                  <a:pt x="220818" y="238220"/>
                  <a:pt x="231229" y="245069"/>
                  <a:pt x="241945" y="242888"/>
                </a:cubicBezTo>
                <a:cubicBezTo>
                  <a:pt x="249184" y="241402"/>
                  <a:pt x="254699" y="235887"/>
                  <a:pt x="256727" y="229048"/>
                </a:cubicBezTo>
                <a:cubicBezTo>
                  <a:pt x="257518" y="226866"/>
                  <a:pt x="258013" y="224542"/>
                  <a:pt x="258013" y="222047"/>
                </a:cubicBezTo>
                <a:cubicBezTo>
                  <a:pt x="258013" y="211141"/>
                  <a:pt x="249184" y="202311"/>
                  <a:pt x="238325" y="202311"/>
                </a:cubicBezTo>
                <a:close/>
                <a:moveTo>
                  <a:pt x="66027" y="132312"/>
                </a:moveTo>
                <a:cubicBezTo>
                  <a:pt x="55169" y="132312"/>
                  <a:pt x="46292" y="141141"/>
                  <a:pt x="46292" y="152057"/>
                </a:cubicBezTo>
                <a:cubicBezTo>
                  <a:pt x="46292" y="152143"/>
                  <a:pt x="46292" y="152200"/>
                  <a:pt x="46292" y="152295"/>
                </a:cubicBezTo>
                <a:cubicBezTo>
                  <a:pt x="46292" y="152343"/>
                  <a:pt x="46292" y="152343"/>
                  <a:pt x="46292" y="152400"/>
                </a:cubicBezTo>
                <a:cubicBezTo>
                  <a:pt x="46292" y="163258"/>
                  <a:pt x="55121" y="172050"/>
                  <a:pt x="65923" y="172050"/>
                </a:cubicBezTo>
                <a:cubicBezTo>
                  <a:pt x="72819" y="172050"/>
                  <a:pt x="78829" y="168535"/>
                  <a:pt x="82344" y="163220"/>
                </a:cubicBezTo>
                <a:cubicBezTo>
                  <a:pt x="84525" y="160049"/>
                  <a:pt x="85820" y="156220"/>
                  <a:pt x="85820" y="152105"/>
                </a:cubicBezTo>
                <a:cubicBezTo>
                  <a:pt x="85820" y="141132"/>
                  <a:pt x="76943" y="132302"/>
                  <a:pt x="66018" y="132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内容1-[1]【1】"/>
          <p:cNvSpPr txBox="1"/>
          <p:nvPr>
            <p:custDataLst>
              <p:tags r:id="rId6"/>
            </p:custDataLst>
          </p:nvPr>
        </p:nvSpPr>
        <p:spPr>
          <a:xfrm>
            <a:off x="2654065" y="1887892"/>
            <a:ext cx="3635777" cy="1395726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MPC钱包的核心概念是私钥不以“完整形态”出现，而是被拆分成多份（shares）。这一设计原则极大地提高了安全性，因为即使某一份shares被盗，也不会导致私钥的完全泄露。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装饰2-子标题2-[2]【1】"/>
          <p:cNvSpPr/>
          <p:nvPr>
            <p:custDataLst>
              <p:tags r:id="rId7"/>
            </p:custDataLst>
          </p:nvPr>
        </p:nvSpPr>
        <p:spPr>
          <a:xfrm>
            <a:off x="7230378" y="3969351"/>
            <a:ext cx="4606423" cy="2161148"/>
          </a:xfrm>
          <a:custGeom>
            <a:avLst/>
            <a:gdLst/>
            <a:ahLst/>
            <a:cxnLst/>
            <a:rect l="l" t="t" r="r" b="b"/>
            <a:pathLst>
              <a:path w="4606423" h="2161148">
                <a:moveTo>
                  <a:pt x="0" y="184280"/>
                </a:moveTo>
                <a:cubicBezTo>
                  <a:pt x="0" y="82573"/>
                  <a:pt x="82573" y="0"/>
                  <a:pt x="184280" y="0"/>
                </a:cubicBezTo>
                <a:lnTo>
                  <a:pt x="4422143" y="0"/>
                </a:lnTo>
                <a:cubicBezTo>
                  <a:pt x="4471018" y="0"/>
                  <a:pt x="4517890" y="19415"/>
                  <a:pt x="4552450" y="53974"/>
                </a:cubicBezTo>
                <a:cubicBezTo>
                  <a:pt x="4587008" y="88533"/>
                  <a:pt x="4606424" y="135406"/>
                  <a:pt x="4606424" y="184280"/>
                </a:cubicBezTo>
                <a:lnTo>
                  <a:pt x="4606424" y="1976866"/>
                </a:lnTo>
                <a:cubicBezTo>
                  <a:pt x="4606424" y="2025740"/>
                  <a:pt x="4587008" y="2072613"/>
                  <a:pt x="4552450" y="2107172"/>
                </a:cubicBezTo>
                <a:cubicBezTo>
                  <a:pt x="4517890" y="2141731"/>
                  <a:pt x="4471018" y="2161146"/>
                  <a:pt x="4422143" y="2161146"/>
                </a:cubicBezTo>
                <a:lnTo>
                  <a:pt x="184280" y="2161146"/>
                </a:lnTo>
                <a:cubicBezTo>
                  <a:pt x="82573" y="2161146"/>
                  <a:pt x="0" y="2078573"/>
                  <a:pt x="0" y="1976866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装饰2-子标题2-[2]【1】"/>
          <p:cNvSpPr/>
          <p:nvPr>
            <p:custDataLst>
              <p:tags r:id="rId8"/>
            </p:custDataLst>
          </p:nvPr>
        </p:nvSpPr>
        <p:spPr>
          <a:xfrm>
            <a:off x="5665487" y="3882722"/>
            <a:ext cx="2163778" cy="1873859"/>
          </a:xfrm>
          <a:custGeom>
            <a:avLst/>
            <a:gdLst/>
            <a:ahLst/>
            <a:cxnLst/>
            <a:rect l="l" t="t" r="r" b="b"/>
            <a:pathLst>
              <a:path w="2163778" h="1873859">
                <a:moveTo>
                  <a:pt x="312315" y="0"/>
                </a:moveTo>
                <a:lnTo>
                  <a:pt x="647014" y="0"/>
                </a:lnTo>
                <a:cubicBezTo>
                  <a:pt x="647014" y="160115"/>
                  <a:pt x="776811" y="289922"/>
                  <a:pt x="936927" y="289922"/>
                </a:cubicBezTo>
                <a:cubicBezTo>
                  <a:pt x="1097051" y="289922"/>
                  <a:pt x="1226848" y="160115"/>
                  <a:pt x="1226848" y="0"/>
                </a:cubicBezTo>
                <a:lnTo>
                  <a:pt x="1561548" y="0"/>
                </a:lnTo>
                <a:cubicBezTo>
                  <a:pt x="1734026" y="0"/>
                  <a:pt x="1873863" y="139827"/>
                  <a:pt x="1873863" y="312315"/>
                </a:cubicBezTo>
                <a:lnTo>
                  <a:pt x="1873863" y="647014"/>
                </a:lnTo>
                <a:cubicBezTo>
                  <a:pt x="2033978" y="647014"/>
                  <a:pt x="2163775" y="776811"/>
                  <a:pt x="2163775" y="936927"/>
                </a:cubicBezTo>
                <a:cubicBezTo>
                  <a:pt x="2163775" y="1097051"/>
                  <a:pt x="2033978" y="1226848"/>
                  <a:pt x="1873863" y="1226848"/>
                </a:cubicBezTo>
                <a:lnTo>
                  <a:pt x="1873863" y="1561548"/>
                </a:lnTo>
                <a:cubicBezTo>
                  <a:pt x="1873863" y="1734026"/>
                  <a:pt x="1734026" y="1873863"/>
                  <a:pt x="1561548" y="1873863"/>
                </a:cubicBezTo>
                <a:lnTo>
                  <a:pt x="312315" y="1873863"/>
                </a:lnTo>
                <a:cubicBezTo>
                  <a:pt x="139827" y="1873863"/>
                  <a:pt x="0" y="1734026"/>
                  <a:pt x="0" y="1561548"/>
                </a:cubicBezTo>
                <a:lnTo>
                  <a:pt x="0" y="312315"/>
                </a:lnTo>
                <a:cubicBezTo>
                  <a:pt x="0" y="139827"/>
                  <a:pt x="139827" y="0"/>
                  <a:pt x="31231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icon2-[2]【1】"/>
          <p:cNvSpPr/>
          <p:nvPr>
            <p:custDataLst>
              <p:tags r:id="rId9"/>
            </p:custDataLst>
          </p:nvPr>
        </p:nvSpPr>
        <p:spPr>
          <a:xfrm>
            <a:off x="6357583" y="4640433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2417254" y="163716"/>
                </a:moveTo>
                <a:cubicBezTo>
                  <a:pt x="1172070" y="163716"/>
                  <a:pt x="160734" y="1175052"/>
                  <a:pt x="160734" y="2420246"/>
                </a:cubicBezTo>
                <a:cubicBezTo>
                  <a:pt x="160734" y="3665449"/>
                  <a:pt x="1172070" y="4676775"/>
                  <a:pt x="2417254" y="4676775"/>
                </a:cubicBezTo>
                <a:cubicBezTo>
                  <a:pt x="3662458" y="4676775"/>
                  <a:pt x="4673794" y="3665411"/>
                  <a:pt x="4673794" y="2420245"/>
                </a:cubicBezTo>
                <a:cubicBezTo>
                  <a:pt x="4673794" y="1175042"/>
                  <a:pt x="3662458" y="163716"/>
                  <a:pt x="2417264" y="163716"/>
                </a:cubicBezTo>
                <a:close/>
                <a:moveTo>
                  <a:pt x="2417264" y="341709"/>
                </a:moveTo>
                <a:cubicBezTo>
                  <a:pt x="3566265" y="341709"/>
                  <a:pt x="4495810" y="1271254"/>
                  <a:pt x="4495810" y="2420255"/>
                </a:cubicBezTo>
                <a:cubicBezTo>
                  <a:pt x="4495810" y="3569218"/>
                  <a:pt x="3566265" y="4498781"/>
                  <a:pt x="2417264" y="4498781"/>
                </a:cubicBezTo>
                <a:cubicBezTo>
                  <a:pt x="1268283" y="4498781"/>
                  <a:pt x="338738" y="3569236"/>
                  <a:pt x="338738" y="2420236"/>
                </a:cubicBezTo>
                <a:quadBezTo>
                  <a:pt x="1268282" y="341709"/>
                  <a:pt x="2417283" y="341709"/>
                </a:quadBezTo>
                <a:close/>
                <a:moveTo>
                  <a:pt x="3381118" y="782841"/>
                </a:moveTo>
                <a:lnTo>
                  <a:pt x="2653284" y="2048475"/>
                </a:lnTo>
                <a:cubicBezTo>
                  <a:pt x="2804884" y="2140248"/>
                  <a:pt x="2893095" y="2299268"/>
                  <a:pt x="2902124" y="2465480"/>
                </a:cubicBezTo>
                <a:lnTo>
                  <a:pt x="4315702" y="2465480"/>
                </a:lnTo>
                <a:cubicBezTo>
                  <a:pt x="4331360" y="1798634"/>
                  <a:pt x="3996709" y="1142772"/>
                  <a:pt x="3381061" y="782831"/>
                </a:cubicBezTo>
                <a:close/>
                <a:moveTo>
                  <a:pt x="1427235" y="806339"/>
                </a:moveTo>
                <a:cubicBezTo>
                  <a:pt x="1169108" y="965645"/>
                  <a:pt x="944508" y="1188739"/>
                  <a:pt x="782202" y="1469812"/>
                </a:cubicBezTo>
                <a:cubicBezTo>
                  <a:pt x="601132" y="1783452"/>
                  <a:pt x="525732" y="2128180"/>
                  <a:pt x="534552" y="2465480"/>
                </a:cubicBezTo>
                <a:lnTo>
                  <a:pt x="1866900" y="2465480"/>
                </a:lnTo>
                <a:cubicBezTo>
                  <a:pt x="1870805" y="2385917"/>
                  <a:pt x="1892970" y="2306126"/>
                  <a:pt x="1935366" y="2232708"/>
                </a:cubicBezTo>
                <a:cubicBezTo>
                  <a:pt x="1984991" y="2146754"/>
                  <a:pt x="2055762" y="2080308"/>
                  <a:pt x="2137467" y="2036255"/>
                </a:cubicBezTo>
                <a:lnTo>
                  <a:pt x="1427264" y="806358"/>
                </a:lnTo>
                <a:close/>
                <a:moveTo>
                  <a:pt x="2385422" y="2150869"/>
                </a:moveTo>
                <a:cubicBezTo>
                  <a:pt x="2377192" y="2150850"/>
                  <a:pt x="2368886" y="2151202"/>
                  <a:pt x="2360714" y="2151764"/>
                </a:cubicBezTo>
                <a:cubicBezTo>
                  <a:pt x="2251691" y="2159318"/>
                  <a:pt x="2148421" y="2219239"/>
                  <a:pt x="2089252" y="2321728"/>
                </a:cubicBezTo>
                <a:cubicBezTo>
                  <a:pt x="1994573" y="2485710"/>
                  <a:pt x="2050294" y="2692889"/>
                  <a:pt x="2214267" y="2787558"/>
                </a:cubicBezTo>
                <a:cubicBezTo>
                  <a:pt x="2378221" y="2882236"/>
                  <a:pt x="2585123" y="2826800"/>
                  <a:pt x="2679792" y="2662838"/>
                </a:cubicBezTo>
                <a:cubicBezTo>
                  <a:pt x="2774470" y="2498864"/>
                  <a:pt x="2719035" y="2291677"/>
                  <a:pt x="2555072" y="2197008"/>
                </a:cubicBezTo>
                <a:cubicBezTo>
                  <a:pt x="2501274" y="2165956"/>
                  <a:pt x="2442981" y="2151059"/>
                  <a:pt x="2385403" y="2150869"/>
                </a:cubicBezTo>
                <a:close/>
                <a:moveTo>
                  <a:pt x="2654179" y="2935490"/>
                </a:moveTo>
                <a:cubicBezTo>
                  <a:pt x="2500569" y="3028359"/>
                  <a:pt x="2303050" y="3038799"/>
                  <a:pt x="2135962" y="2947397"/>
                </a:cubicBezTo>
                <a:lnTo>
                  <a:pt x="1487976" y="4063918"/>
                </a:lnTo>
                <a:cubicBezTo>
                  <a:pt x="1768526" y="4223794"/>
                  <a:pt x="2069420" y="4303728"/>
                  <a:pt x="2371420" y="4311568"/>
                </a:cubicBezTo>
                <a:cubicBezTo>
                  <a:pt x="2700670" y="4320121"/>
                  <a:pt x="3025978" y="4237406"/>
                  <a:pt x="3315576" y="4082662"/>
                </a:cubicBezTo>
                <a:lnTo>
                  <a:pt x="2654179" y="2935490"/>
                </a:ln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子内容2-[2]【1】"/>
          <p:cNvSpPr txBox="1"/>
          <p:nvPr>
            <p:custDataLst>
              <p:tags r:id="rId10"/>
            </p:custDataLst>
          </p:nvPr>
        </p:nvSpPr>
        <p:spPr>
          <a:xfrm>
            <a:off x="8112525" y="4484839"/>
            <a:ext cx="3635777" cy="1713829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使用时，需要满足阈值（t-of-n）才能签名或使用钱包。这一机制在安全性和可用性之间找到了平衡，最常见的安全+可用平衡是</a:t>
            </a: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-of-</a:t>
            </a: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3</a:t>
            </a: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，即需要至少两份shares才能进行签名或交易，确保了安全性的同时，也保持了使用的便捷性。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2-[2]【1】"/>
          <p:cNvSpPr txBox="1"/>
          <p:nvPr>
            <p:custDataLst>
              <p:tags r:id="rId11"/>
            </p:custDataLst>
          </p:nvPr>
        </p:nvSpPr>
        <p:spPr>
          <a:xfrm>
            <a:off x="8103403" y="3964140"/>
            <a:ext cx="4216400" cy="5266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阈值机制</a:t>
            </a:r>
            <a:endParaRPr lang="zh-CN" altLang="en-US" sz="20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标题1-[1]【1】"/>
          <p:cNvSpPr txBox="1"/>
          <p:nvPr>
            <p:custDataLst>
              <p:tags r:id="rId12"/>
            </p:custDataLst>
          </p:nvPr>
        </p:nvSpPr>
        <p:spPr>
          <a:xfrm>
            <a:off x="2644943" y="1366990"/>
            <a:ext cx="4216400" cy="526646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0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私钥拆分</a:t>
            </a:r>
            <a:endParaRPr lang="zh-CN" altLang="en-US" sz="20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标题"/>
          <p:cNvSpPr txBox="1"/>
          <p:nvPr>
            <p:custDataLst>
              <p:tags r:id="rId1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MPC钱包核心概念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 6"/>
          <p:cNvSpPr/>
          <p:nvPr>
            <p:custDataLst>
              <p:tags r:id="rId3"/>
            </p:custDataLst>
          </p:nvPr>
        </p:nvSpPr>
        <p:spPr>
          <a:xfrm flipH="1">
            <a:off x="0" y="3633717"/>
            <a:ext cx="3857625" cy="3328647"/>
          </a:xfrm>
          <a:custGeom>
            <a:avLst/>
            <a:gdLst/>
            <a:ahLst/>
            <a:cxnLst/>
            <a:rect l="l" t="t" r="r" b="b"/>
            <a:pathLst>
              <a:path w="3857625" h="3328647">
                <a:moveTo>
                  <a:pt x="642947" y="0"/>
                </a:moveTo>
                <a:lnTo>
                  <a:pt x="3214678" y="0"/>
                </a:lnTo>
                <a:cubicBezTo>
                  <a:pt x="3569770" y="0"/>
                  <a:pt x="3857625" y="287855"/>
                  <a:pt x="3857625" y="642947"/>
                </a:cubicBezTo>
                <a:lnTo>
                  <a:pt x="3857625" y="3328644"/>
                </a:lnTo>
                <a:lnTo>
                  <a:pt x="0" y="3328644"/>
                </a:lnTo>
                <a:lnTo>
                  <a:pt x="0" y="642947"/>
                </a:lnTo>
                <a:cubicBezTo>
                  <a:pt x="0" y="287855"/>
                  <a:pt x="287855" y="0"/>
                  <a:pt x="642947" y="0"/>
                </a:cubicBezTo>
                <a:close/>
              </a:path>
            </a:pathLst>
          </a:custGeom>
          <a:gradFill rotWithShape="1">
            <a:gsLst>
              <a:gs pos="100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1"/>
          <p:cNvSpPr/>
          <p:nvPr>
            <p:custDataLst>
              <p:tags r:id="rId4"/>
            </p:custDataLst>
          </p:nvPr>
        </p:nvSpPr>
        <p:spPr>
          <a:xfrm>
            <a:off x="8990038" y="0"/>
            <a:ext cx="3857625" cy="3328647"/>
          </a:xfrm>
          <a:custGeom>
            <a:avLst/>
            <a:gdLst/>
            <a:ahLst/>
            <a:cxnLst/>
            <a:rect l="l" t="t" r="r" b="b"/>
            <a:pathLst>
              <a:path w="3857625" h="3328647">
                <a:moveTo>
                  <a:pt x="642947" y="0"/>
                </a:moveTo>
                <a:lnTo>
                  <a:pt x="3214678" y="0"/>
                </a:lnTo>
                <a:cubicBezTo>
                  <a:pt x="3569770" y="0"/>
                  <a:pt x="3857625" y="287855"/>
                  <a:pt x="3857625" y="642947"/>
                </a:cubicBezTo>
                <a:lnTo>
                  <a:pt x="3857625" y="3328644"/>
                </a:lnTo>
                <a:lnTo>
                  <a:pt x="0" y="3328644"/>
                </a:lnTo>
                <a:lnTo>
                  <a:pt x="0" y="642947"/>
                </a:lnTo>
                <a:cubicBezTo>
                  <a:pt x="0" y="287855"/>
                  <a:pt x="287855" y="0"/>
                  <a:pt x="642947" y="0"/>
                </a:cubicBezTo>
                <a:close/>
              </a:path>
            </a:pathLst>
          </a:custGeom>
          <a:gradFill rotWithShape="1">
            <a:gsLst>
              <a:gs pos="100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1080000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"/>
          <p:cNvSpPr txBox="1"/>
          <p:nvPr>
            <p:custDataLst>
              <p:tags r:id="rId5"/>
            </p:custDataLst>
          </p:nvPr>
        </p:nvSpPr>
        <p:spPr>
          <a:xfrm>
            <a:off x="507288" y="2059230"/>
            <a:ext cx="5347349" cy="4356810"/>
          </a:xfrm>
          <a:prstGeom prst="rect">
            <a:avLst/>
          </a:prstGeom>
        </p:spPr>
        <p:txBody>
          <a:bodyPr spcFirstLastPara="1" wrap="square" lIns="25713" tIns="22850" rIns="25713" bIns="17137" rtlCol="0"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1.TSS介绍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TSS代表阈值签名方案，这是签名场景中最常见的MPC形式。它允许通过在多方之间分发密钥部分来安全生成加密密钥，确保没有一方可以控制整个密钥。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00000"/>
              </a:lnSpc>
              <a:spcBef>
                <a:spcPts val="1300"/>
              </a:spcBef>
            </a:pP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2.阈值机制应用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在MPC的背景下，阈值机制（t-of-n）至关重要。它规定签署一笔交易需要一定数量的股份（t），股份总数为n。这确保了没有任何一个实体拥有过多的权力，并且没有多数人的共识，交易就无法签署。</a:t>
            </a:r>
            <a:endParaRPr lang="zh-CN" altLang="en-US" sz="12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00000"/>
              </a:lnSpc>
              <a:spcBef>
                <a:spcPts val="1300"/>
              </a:spcBef>
            </a:pP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3.安全性与可用性的平衡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MPC钱包中的阈值机制，如2-of-3模型，精心平衡了安全性和可用性。它确保钱包保持安全，防止未经授权的访问，同时仍然可以恢复和管理，为保护数字资产提供了一个强大的解决方案。</a:t>
            </a:r>
            <a:endParaRPr lang="zh-CN" altLang="en-US" sz="12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标题"/>
          <p:cNvSpPr txBox="1"/>
          <p:nvPr>
            <p:custDataLst>
              <p:tags r:id="rId6"/>
            </p:custDataLst>
          </p:nvPr>
        </p:nvSpPr>
        <p:spPr>
          <a:xfrm>
            <a:off x="486121" y="238391"/>
            <a:ext cx="5367625" cy="974806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阈值签名方案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pic>
        <p:nvPicPr>
          <p:cNvPr id="8" name="图片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7438" r="17438"/>
          <a:stretch>
            <a:fillRect/>
          </a:stretch>
        </p:blipFill>
        <p:spPr>
          <a:xfrm>
            <a:off x="6298976" y="653330"/>
            <a:ext cx="3109720" cy="3190291"/>
          </a:xfrm>
          <a:custGeom>
            <a:avLst/>
            <a:gdLst/>
            <a:ahLst/>
            <a:cxnLst/>
            <a:rect l="l" t="t" r="r" b="b"/>
            <a:pathLst>
              <a:path w="3109720" h="3190291">
                <a:moveTo>
                  <a:pt x="0" y="0"/>
                </a:moveTo>
                <a:lnTo>
                  <a:pt x="2763231" y="0"/>
                </a:lnTo>
                <a:lnTo>
                  <a:pt x="3109722" y="346481"/>
                </a:lnTo>
                <a:lnTo>
                  <a:pt x="3109722" y="3190294"/>
                </a:lnTo>
                <a:lnTo>
                  <a:pt x="3109722" y="3190294"/>
                </a:lnTo>
                <a:lnTo>
                  <a:pt x="346481" y="3190294"/>
                </a:lnTo>
                <a:lnTo>
                  <a:pt x="0" y="2843803"/>
                </a:lnTo>
                <a:lnTo>
                  <a:pt x="0" y="0"/>
                </a:lnTo>
                <a:close/>
              </a:path>
            </a:pathLst>
          </a:custGeom>
          <a:ln w="19050">
            <a:gradFill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2700000"/>
            </a:gradFill>
            <a:prstDash val="solid"/>
          </a:ln>
        </p:spPr>
      </p:pic>
      <p:pic>
        <p:nvPicPr>
          <p:cNvPr id="9" name="图片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17438" r="17438"/>
          <a:stretch>
            <a:fillRect/>
          </a:stretch>
        </p:blipFill>
        <p:spPr>
          <a:xfrm>
            <a:off x="8574992" y="2972175"/>
            <a:ext cx="3109720" cy="3190291"/>
          </a:xfrm>
          <a:custGeom>
            <a:avLst/>
            <a:gdLst/>
            <a:ahLst/>
            <a:cxnLst/>
            <a:rect l="l" t="t" r="r" b="b"/>
            <a:pathLst>
              <a:path w="3109720" h="3190291">
                <a:moveTo>
                  <a:pt x="0" y="0"/>
                </a:moveTo>
                <a:lnTo>
                  <a:pt x="2763231" y="0"/>
                </a:lnTo>
                <a:lnTo>
                  <a:pt x="3109722" y="346481"/>
                </a:lnTo>
                <a:lnTo>
                  <a:pt x="3109722" y="3190294"/>
                </a:lnTo>
                <a:lnTo>
                  <a:pt x="3109722" y="3190294"/>
                </a:lnTo>
                <a:lnTo>
                  <a:pt x="346481" y="3190294"/>
                </a:lnTo>
                <a:lnTo>
                  <a:pt x="0" y="2843803"/>
                </a:lnTo>
                <a:lnTo>
                  <a:pt x="0" y="0"/>
                </a:lnTo>
                <a:close/>
              </a:path>
            </a:pathLst>
          </a:custGeom>
          <a:ln w="19050">
            <a:gradFill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3500000"/>
            </a:gradFill>
            <a:prstDash val="solid"/>
          </a:ln>
          <a:effectLst>
            <a:outerShdw blurRad="101600" dist="101600" dir="13200000" sx="98000" sy="98000" algn="r">
              <a:schemeClr val="accent1">
                <a:alpha val="10000"/>
              </a:schemeClr>
            </a:outerShdw>
          </a:effectLst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序号"/>
          <p:cNvSpPr/>
          <p:nvPr>
            <p:custDataLst>
              <p:tags r:id="rId1"/>
            </p:custDataLst>
          </p:nvPr>
        </p:nvSpPr>
        <p:spPr>
          <a:xfrm>
            <a:off x="5467547" y="1418031"/>
            <a:ext cx="1256905" cy="1159867"/>
          </a:xfrm>
          <a:custGeom>
            <a:avLst/>
            <a:gdLst/>
            <a:ahLst/>
            <a:cxnLst/>
            <a:rect l="l" t="t" r="r" b="b"/>
            <a:pathLst>
              <a:path w="1256905" h="1446550">
                <a:moveTo>
                  <a:pt x="0" y="0"/>
                </a:moveTo>
                <a:lnTo>
                  <a:pt x="1256909" y="0"/>
                </a:lnTo>
                <a:lnTo>
                  <a:pt x="1256909" y="1446552"/>
                </a:lnTo>
                <a:lnTo>
                  <a:pt x="0" y="1446552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03</a:t>
            </a:r>
            <a:endParaRPr lang="zh-CN" altLang="en-US" sz="8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" name="标题"/>
          <p:cNvSpPr txBox="1"/>
          <p:nvPr>
            <p:custDataLst>
              <p:tags r:id="rId2"/>
            </p:custDataLst>
          </p:nvPr>
        </p:nvSpPr>
        <p:spPr>
          <a:xfrm>
            <a:off x="1411550" y="2750185"/>
            <a:ext cx="9250532" cy="1357630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应用场景分析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4" name="副标题"/>
          <p:cNvSpPr txBox="1"/>
          <p:nvPr>
            <p:custDataLst>
              <p:tags r:id="rId3"/>
            </p:custDataLst>
          </p:nvPr>
        </p:nvSpPr>
        <p:spPr>
          <a:xfrm>
            <a:off x="2240280" y="4225290"/>
            <a:ext cx="7711440" cy="1176655"/>
          </a:xfrm>
          <a:prstGeom prst="rect">
            <a:avLst/>
          </a:prstGeom>
        </p:spPr>
        <p:txBody>
          <a:bodyPr spcFirstLastPara="0" wrap="square" lIns="38576" tIns="34290" rIns="38576" bIns="25718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Application scenario analysis</a:t>
            </a:r>
            <a:endParaRPr lang="zh-CN" altLang="en-US" sz="14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嵌入式钱包适用性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5" name="Freeform 23"/>
          <p:cNvSpPr/>
          <p:nvPr>
            <p:custDataLst>
              <p:tags r:id="rId4"/>
            </p:custDataLst>
          </p:nvPr>
        </p:nvSpPr>
        <p:spPr>
          <a:xfrm>
            <a:off x="1161315" y="4719331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1327394"/>
                </a:moveTo>
                <a:lnTo>
                  <a:pt x="0" y="828923"/>
                </a:lnTo>
                <a:lnTo>
                  <a:pt x="0" y="0"/>
                </a:lnTo>
                <a:lnTo>
                  <a:pt x="1758667" y="498472"/>
                </a:lnTo>
                <a:lnTo>
                  <a:pt x="1758667" y="1327394"/>
                </a:lnTo>
                <a:close/>
              </a:path>
            </a:pathLst>
          </a:custGeom>
          <a:solidFill>
            <a:schemeClr val="accent4">
              <a:lumMod val="75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 24"/>
          <p:cNvSpPr/>
          <p:nvPr>
            <p:custDataLst>
              <p:tags r:id="rId5"/>
            </p:custDataLst>
          </p:nvPr>
        </p:nvSpPr>
        <p:spPr>
          <a:xfrm>
            <a:off x="2918111" y="4719331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828923"/>
                </a:moveTo>
                <a:lnTo>
                  <a:pt x="0" y="1327394"/>
                </a:lnTo>
                <a:lnTo>
                  <a:pt x="0" y="498472"/>
                </a:lnTo>
                <a:lnTo>
                  <a:pt x="1758667" y="0"/>
                </a:lnTo>
                <a:lnTo>
                  <a:pt x="1758667" y="828923"/>
                </a:lnTo>
                <a:close/>
              </a:path>
            </a:pathLst>
          </a:custGeom>
          <a:solidFill>
            <a:schemeClr val="accent4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25"/>
          <p:cNvSpPr/>
          <p:nvPr>
            <p:custDataLst>
              <p:tags r:id="rId6"/>
            </p:custDataLst>
          </p:nvPr>
        </p:nvSpPr>
        <p:spPr>
          <a:xfrm>
            <a:off x="1161315" y="4209655"/>
            <a:ext cx="3515460" cy="1008150"/>
          </a:xfrm>
          <a:custGeom>
            <a:avLst/>
            <a:gdLst/>
            <a:ahLst/>
            <a:cxnLst/>
            <a:rect l="l" t="t" r="r" b="b"/>
            <a:pathLst>
              <a:path w="3515460" h="1008150">
                <a:moveTo>
                  <a:pt x="3515458" y="509673"/>
                </a:moveTo>
                <a:lnTo>
                  <a:pt x="1756800" y="1008155"/>
                </a:lnTo>
                <a:lnTo>
                  <a:pt x="0" y="509673"/>
                </a:lnTo>
                <a:lnTo>
                  <a:pt x="0" y="500339"/>
                </a:lnTo>
                <a:lnTo>
                  <a:pt x="1758667" y="0"/>
                </a:lnTo>
                <a:lnTo>
                  <a:pt x="3515458" y="500339"/>
                </a:lnTo>
                <a:lnTo>
                  <a:pt x="3515458" y="509673"/>
                </a:lnTo>
                <a:close/>
              </a:path>
            </a:pathLst>
          </a:custGeom>
          <a:solidFill>
            <a:schemeClr val="accent4">
              <a:lumMod val="75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19"/>
          <p:cNvSpPr/>
          <p:nvPr>
            <p:custDataLst>
              <p:tags r:id="rId7"/>
            </p:custDataLst>
          </p:nvPr>
        </p:nvSpPr>
        <p:spPr>
          <a:xfrm>
            <a:off x="1133475" y="3394082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1327394"/>
                </a:moveTo>
                <a:lnTo>
                  <a:pt x="0" y="828923"/>
                </a:lnTo>
                <a:lnTo>
                  <a:pt x="0" y="0"/>
                </a:lnTo>
                <a:lnTo>
                  <a:pt x="1758667" y="498472"/>
                </a:lnTo>
                <a:lnTo>
                  <a:pt x="1758667" y="1327394"/>
                </a:lnTo>
                <a:close/>
              </a:path>
            </a:pathLst>
          </a:custGeom>
          <a:solidFill>
            <a:schemeClr val="accent1">
              <a:lumMod val="75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20"/>
          <p:cNvSpPr/>
          <p:nvPr>
            <p:custDataLst>
              <p:tags r:id="rId8"/>
            </p:custDataLst>
          </p:nvPr>
        </p:nvSpPr>
        <p:spPr>
          <a:xfrm>
            <a:off x="2890271" y="3394082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828923"/>
                </a:moveTo>
                <a:lnTo>
                  <a:pt x="0" y="1327394"/>
                </a:lnTo>
                <a:lnTo>
                  <a:pt x="0" y="498472"/>
                </a:lnTo>
                <a:lnTo>
                  <a:pt x="1758667" y="0"/>
                </a:lnTo>
                <a:lnTo>
                  <a:pt x="1758667" y="828923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 21"/>
          <p:cNvSpPr/>
          <p:nvPr>
            <p:custDataLst>
              <p:tags r:id="rId9"/>
            </p:custDataLst>
          </p:nvPr>
        </p:nvSpPr>
        <p:spPr>
          <a:xfrm>
            <a:off x="1133475" y="2884406"/>
            <a:ext cx="3515460" cy="1008150"/>
          </a:xfrm>
          <a:custGeom>
            <a:avLst/>
            <a:gdLst/>
            <a:ahLst/>
            <a:cxnLst/>
            <a:rect l="l" t="t" r="r" b="b"/>
            <a:pathLst>
              <a:path w="3515460" h="1008150">
                <a:moveTo>
                  <a:pt x="3515458" y="509673"/>
                </a:moveTo>
                <a:lnTo>
                  <a:pt x="1756800" y="1008155"/>
                </a:lnTo>
                <a:lnTo>
                  <a:pt x="0" y="509673"/>
                </a:lnTo>
                <a:lnTo>
                  <a:pt x="0" y="500339"/>
                </a:lnTo>
                <a:lnTo>
                  <a:pt x="1758667" y="0"/>
                </a:lnTo>
                <a:lnTo>
                  <a:pt x="3515458" y="500339"/>
                </a:lnTo>
                <a:lnTo>
                  <a:pt x="3515458" y="509673"/>
                </a:lnTo>
                <a:close/>
              </a:path>
            </a:pathLst>
          </a:custGeom>
          <a:solidFill>
            <a:schemeClr val="accent1">
              <a:lumMod val="50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15"/>
          <p:cNvSpPr/>
          <p:nvPr>
            <p:custDataLst>
              <p:tags r:id="rId10"/>
            </p:custDataLst>
          </p:nvPr>
        </p:nvSpPr>
        <p:spPr>
          <a:xfrm>
            <a:off x="1133475" y="2137814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1327394"/>
                </a:moveTo>
                <a:lnTo>
                  <a:pt x="0" y="828923"/>
                </a:lnTo>
                <a:lnTo>
                  <a:pt x="0" y="0"/>
                </a:lnTo>
                <a:lnTo>
                  <a:pt x="1758667" y="498472"/>
                </a:lnTo>
                <a:lnTo>
                  <a:pt x="1758667" y="1327394"/>
                </a:lnTo>
                <a:close/>
              </a:path>
            </a:pathLst>
          </a:custGeom>
          <a:solidFill>
            <a:schemeClr val="accent2">
              <a:lumMod val="75000"/>
              <a:lumOff val="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16"/>
          <p:cNvSpPr/>
          <p:nvPr>
            <p:custDataLst>
              <p:tags r:id="rId11"/>
            </p:custDataLst>
          </p:nvPr>
        </p:nvSpPr>
        <p:spPr>
          <a:xfrm>
            <a:off x="2890271" y="2137814"/>
            <a:ext cx="1758663" cy="1327398"/>
          </a:xfrm>
          <a:custGeom>
            <a:avLst/>
            <a:gdLst/>
            <a:ahLst/>
            <a:cxnLst/>
            <a:rect l="l" t="t" r="r" b="b"/>
            <a:pathLst>
              <a:path w="1758663" h="1327398">
                <a:moveTo>
                  <a:pt x="1758667" y="828923"/>
                </a:moveTo>
                <a:lnTo>
                  <a:pt x="0" y="1327394"/>
                </a:lnTo>
                <a:lnTo>
                  <a:pt x="0" y="498472"/>
                </a:lnTo>
                <a:lnTo>
                  <a:pt x="1758667" y="0"/>
                </a:lnTo>
                <a:lnTo>
                  <a:pt x="1758667" y="828923"/>
                </a:ln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 17"/>
          <p:cNvSpPr/>
          <p:nvPr>
            <p:custDataLst>
              <p:tags r:id="rId12"/>
            </p:custDataLst>
          </p:nvPr>
        </p:nvSpPr>
        <p:spPr>
          <a:xfrm>
            <a:off x="1133475" y="1628138"/>
            <a:ext cx="3515460" cy="1008150"/>
          </a:xfrm>
          <a:custGeom>
            <a:avLst/>
            <a:gdLst/>
            <a:ahLst/>
            <a:cxnLst/>
            <a:rect l="l" t="t" r="r" b="b"/>
            <a:pathLst>
              <a:path w="3515460" h="1008150">
                <a:moveTo>
                  <a:pt x="3515458" y="509673"/>
                </a:moveTo>
                <a:lnTo>
                  <a:pt x="1756800" y="1008155"/>
                </a:lnTo>
                <a:lnTo>
                  <a:pt x="0" y="509673"/>
                </a:lnTo>
                <a:lnTo>
                  <a:pt x="0" y="500339"/>
                </a:lnTo>
                <a:lnTo>
                  <a:pt x="1758667" y="0"/>
                </a:lnTo>
                <a:lnTo>
                  <a:pt x="3515458" y="500339"/>
                </a:lnTo>
                <a:lnTo>
                  <a:pt x="3515458" y="50967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子标题1-[1]【1】"/>
          <p:cNvSpPr/>
          <p:nvPr>
            <p:custDataLst>
              <p:tags r:id="rId13"/>
            </p:custDataLst>
          </p:nvPr>
        </p:nvSpPr>
        <p:spPr>
          <a:xfrm>
            <a:off x="5727699" y="1453463"/>
            <a:ext cx="5982868" cy="388144"/>
          </a:xfrm>
          <a:custGeom>
            <a:avLst/>
            <a:gdLst/>
            <a:ahLst/>
            <a:cxnLst/>
            <a:rect l="l" t="t" r="r" b="b"/>
            <a:pathLst>
              <a:path w="5982868" h="388144">
                <a:moveTo>
                  <a:pt x="0" y="0"/>
                </a:moveTo>
                <a:lnTo>
                  <a:pt x="5982872" y="0"/>
                </a:lnTo>
                <a:lnTo>
                  <a:pt x="5982872" y="388144"/>
                </a:lnTo>
                <a:lnTo>
                  <a:pt x="0" y="388144"/>
                </a:lnTo>
                <a:close/>
              </a:path>
            </a:pathLst>
          </a:custGeom>
        </p:spPr>
        <p:txBody>
          <a:bodyPr spcFirstLastPara="0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嵌入式钱包场景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子内容1-[1]【1】"/>
          <p:cNvSpPr/>
          <p:nvPr>
            <p:custDataLst>
              <p:tags r:id="rId14"/>
            </p:custDataLst>
          </p:nvPr>
        </p:nvSpPr>
        <p:spPr>
          <a:xfrm>
            <a:off x="5727699" y="1894138"/>
            <a:ext cx="5982865" cy="992837"/>
          </a:xfrm>
          <a:custGeom>
            <a:avLst/>
            <a:gdLst/>
            <a:ahLst/>
            <a:cxnLst/>
            <a:rect l="l" t="t" r="r" b="b"/>
            <a:pathLst>
              <a:path w="5982864" h="992837">
                <a:moveTo>
                  <a:pt x="0" y="0"/>
                </a:moveTo>
                <a:lnTo>
                  <a:pt x="5982862" y="0"/>
                </a:lnTo>
                <a:lnTo>
                  <a:pt x="5982862" y="992838"/>
                </a:lnTo>
                <a:lnTo>
                  <a:pt x="0" y="99283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MPC钱包特别适合做嵌入式钱包，如App、网页、Mini App等场景，因为它能够提供更接近Web</a:t>
            </a:r>
            <a:r>
              <a:rPr lang="zh-CN" altLang="en-US" sz="13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</a:t>
            </a: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的登录体验，同时保持安全性。这一特性使得MPC钱包在开发这些应用时成为了一个理想的选择。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6" name="子标题2-[2]【1】"/>
          <p:cNvSpPr/>
          <p:nvPr>
            <p:custDataLst>
              <p:tags r:id="rId15"/>
            </p:custDataLst>
          </p:nvPr>
        </p:nvSpPr>
        <p:spPr>
          <a:xfrm>
            <a:off x="5727699" y="3152428"/>
            <a:ext cx="5982864" cy="388144"/>
          </a:xfrm>
          <a:custGeom>
            <a:avLst/>
            <a:gdLst/>
            <a:ahLst/>
            <a:cxnLst/>
            <a:rect l="l" t="t" r="r" b="b"/>
            <a:pathLst>
              <a:path w="5982864" h="388144">
                <a:moveTo>
                  <a:pt x="0" y="0"/>
                </a:moveTo>
                <a:lnTo>
                  <a:pt x="5982862" y="0"/>
                </a:lnTo>
                <a:lnTo>
                  <a:pt x="5982862" y="388144"/>
                </a:lnTo>
                <a:lnTo>
                  <a:pt x="0" y="388144"/>
                </a:lnTo>
                <a:close/>
              </a:path>
            </a:pathLst>
          </a:custGeom>
        </p:spPr>
        <p:txBody>
          <a:bodyPr spcFirstLastPara="0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跨平台兼容性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7" name="子内容2-[2]【1】"/>
          <p:cNvSpPr/>
          <p:nvPr>
            <p:custDataLst>
              <p:tags r:id="rId16"/>
            </p:custDataLst>
          </p:nvPr>
        </p:nvSpPr>
        <p:spPr>
          <a:xfrm>
            <a:off x="5727699" y="3527494"/>
            <a:ext cx="5982859" cy="992837"/>
          </a:xfrm>
          <a:custGeom>
            <a:avLst/>
            <a:gdLst/>
            <a:ahLst/>
            <a:cxnLst/>
            <a:rect l="l" t="t" r="r" b="b"/>
            <a:pathLst>
              <a:path w="5982858" h="992837">
                <a:moveTo>
                  <a:pt x="0" y="0"/>
                </a:moveTo>
                <a:lnTo>
                  <a:pt x="5982862" y="0"/>
                </a:lnTo>
                <a:lnTo>
                  <a:pt x="5982862" y="992838"/>
                </a:lnTo>
                <a:lnTo>
                  <a:pt x="0" y="99283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MPC钱包的设计理念使其能够在多种平台上顺畅运行，包括智能手机、平板电脑及智能手表等，真正实现跨平台兼容，让用户体验更加多样化和便捷。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8" name="子标题3-[3]【1】"/>
          <p:cNvSpPr/>
          <p:nvPr>
            <p:custDataLst>
              <p:tags r:id="rId17"/>
            </p:custDataLst>
          </p:nvPr>
        </p:nvSpPr>
        <p:spPr>
          <a:xfrm>
            <a:off x="5727694" y="4833929"/>
            <a:ext cx="5982864" cy="388144"/>
          </a:xfrm>
          <a:custGeom>
            <a:avLst/>
            <a:gdLst/>
            <a:ahLst/>
            <a:cxnLst/>
            <a:rect l="l" t="t" r="r" b="b"/>
            <a:pathLst>
              <a:path w="5982864" h="388144">
                <a:moveTo>
                  <a:pt x="0" y="0"/>
                </a:moveTo>
                <a:lnTo>
                  <a:pt x="5982862" y="0"/>
                </a:lnTo>
                <a:lnTo>
                  <a:pt x="5982862" y="388144"/>
                </a:lnTo>
                <a:lnTo>
                  <a:pt x="0" y="388144"/>
                </a:lnTo>
                <a:close/>
              </a:path>
            </a:pathLst>
          </a:custGeom>
        </p:spPr>
        <p:txBody>
          <a:bodyPr spcFirstLastPara="0" lIns="0" tIns="0" rIns="0" bIns="0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数据安全性保障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子内容3-[3]【1】"/>
          <p:cNvSpPr/>
          <p:nvPr>
            <p:custDataLst>
              <p:tags r:id="rId18"/>
            </p:custDataLst>
          </p:nvPr>
        </p:nvSpPr>
        <p:spPr>
          <a:xfrm>
            <a:off x="5727694" y="5183938"/>
            <a:ext cx="5982859" cy="992837"/>
          </a:xfrm>
          <a:custGeom>
            <a:avLst/>
            <a:gdLst/>
            <a:ahLst/>
            <a:cxnLst/>
            <a:rect l="l" t="t" r="r" b="b"/>
            <a:pathLst>
              <a:path w="5982858" h="992837">
                <a:moveTo>
                  <a:pt x="0" y="0"/>
                </a:moveTo>
                <a:lnTo>
                  <a:pt x="5982862" y="0"/>
                </a:lnTo>
                <a:lnTo>
                  <a:pt x="5982862" y="992838"/>
                </a:lnTo>
                <a:lnTo>
                  <a:pt x="0" y="992838"/>
                </a:lnTo>
                <a:close/>
              </a:path>
            </a:pathLst>
          </a:custGeom>
        </p:spPr>
        <p:txBody>
          <a:bodyPr spcFirstLastPara="0" lIns="0" tIns="0" rIns="0" bIns="0" rtlCol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在嵌入式设备上运行MPC钱包，其通过分布式存储和计算技术，确保用户数据在设备间安全流转，即使单个设备受损，也能快速恢复，为用户数据提供坚实的保障。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换设备恢复流程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5" name="装饰2-子标题2【1】"/>
          <p:cNvSpPr/>
          <p:nvPr>
            <p:custDataLst>
              <p:tags r:id="rId4"/>
            </p:custDataLst>
          </p:nvPr>
        </p:nvSpPr>
        <p:spPr>
          <a:xfrm rot="19367480">
            <a:off x="3885407" y="1655214"/>
            <a:ext cx="3772418" cy="3537424"/>
          </a:xfrm>
          <a:custGeom>
            <a:avLst/>
            <a:gdLst/>
            <a:ahLst/>
            <a:cxnLst/>
            <a:rect l="l" t="t" r="r" b="b"/>
            <a:pathLst>
              <a:path w="3772418" h="3537424">
                <a:moveTo>
                  <a:pt x="2786529" y="2626376"/>
                </a:moveTo>
                <a:cubicBezTo>
                  <a:pt x="3031560" y="2400043"/>
                  <a:pt x="3169701" y="2091176"/>
                  <a:pt x="3169701" y="1768716"/>
                </a:cubicBezTo>
                <a:cubicBezTo>
                  <a:pt x="3169701" y="1476870"/>
                  <a:pt x="3056534" y="1195026"/>
                  <a:pt x="2851671" y="975579"/>
                </a:cubicBezTo>
                <a:lnTo>
                  <a:pt x="3305061" y="603161"/>
                </a:lnTo>
                <a:cubicBezTo>
                  <a:pt x="3606327" y="925792"/>
                  <a:pt x="3772414" y="1339967"/>
                  <a:pt x="3772414" y="1768716"/>
                </a:cubicBezTo>
                <a:cubicBezTo>
                  <a:pt x="3772414" y="2242499"/>
                  <a:pt x="3569475" y="2696632"/>
                  <a:pt x="3209354" y="3029083"/>
                </a:cubicBezTo>
                <a:lnTo>
                  <a:pt x="3540138" y="3344180"/>
                </a:lnTo>
                <a:lnTo>
                  <a:pt x="2447182" y="3336312"/>
                </a:lnTo>
                <a:lnTo>
                  <a:pt x="2455736" y="2311279"/>
                </a:lnTo>
                <a:lnTo>
                  <a:pt x="2786529" y="2626376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>
              <a:srgbClr val="000000">
                <a:alpha val="39999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子标题1-[1]【1】"/>
          <p:cNvSpPr/>
          <p:nvPr>
            <p:custDataLst>
              <p:tags r:id="rId5"/>
            </p:custDataLst>
          </p:nvPr>
        </p:nvSpPr>
        <p:spPr>
          <a:xfrm rot="12146960">
            <a:off x="4150991" y="1619061"/>
            <a:ext cx="3773809" cy="3537424"/>
          </a:xfrm>
          <a:custGeom>
            <a:avLst/>
            <a:gdLst/>
            <a:ahLst/>
            <a:cxnLst/>
            <a:rect l="l" t="t" r="r" b="b"/>
            <a:pathLst>
              <a:path w="3773809" h="3537424">
                <a:moveTo>
                  <a:pt x="2787548" y="2626376"/>
                </a:moveTo>
                <a:cubicBezTo>
                  <a:pt x="3032674" y="2400043"/>
                  <a:pt x="3170872" y="2091176"/>
                  <a:pt x="3170872" y="1768716"/>
                </a:cubicBezTo>
                <a:cubicBezTo>
                  <a:pt x="3170872" y="1495215"/>
                  <a:pt x="3071460" y="1230078"/>
                  <a:pt x="2889409" y="1016679"/>
                </a:cubicBezTo>
                <a:lnTo>
                  <a:pt x="3360087" y="663597"/>
                </a:lnTo>
                <a:cubicBezTo>
                  <a:pt x="3627920" y="977217"/>
                  <a:pt x="3773805" y="1366980"/>
                  <a:pt x="3773805" y="1768716"/>
                </a:cubicBezTo>
                <a:cubicBezTo>
                  <a:pt x="3773805" y="2242499"/>
                  <a:pt x="3570789" y="2696632"/>
                  <a:pt x="3210534" y="3029083"/>
                </a:cubicBezTo>
                <a:lnTo>
                  <a:pt x="3541442" y="3344180"/>
                </a:lnTo>
                <a:lnTo>
                  <a:pt x="2448087" y="3336312"/>
                </a:lnTo>
                <a:lnTo>
                  <a:pt x="2456640" y="2311279"/>
                </a:lnTo>
                <a:lnTo>
                  <a:pt x="2787548" y="2626376"/>
                </a:lnTo>
                <a:close/>
              </a:path>
            </a:pathLst>
          </a:custGeom>
          <a:solidFill>
            <a:schemeClr val="accent3"/>
          </a:solidFill>
          <a:ln w="3175">
            <a:solidFill>
              <a:srgbClr val="EAEAEA"/>
            </a:solidFill>
            <a:prstDash val="solid"/>
          </a:ln>
          <a:effectLst>
            <a:outerShdw blurRad="50800" dist="38100" dir="5400000" algn="t">
              <a:srgbClr val="000000">
                <a:alpha val="39999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3-子标题3-[1]【1】"/>
          <p:cNvSpPr/>
          <p:nvPr>
            <p:custDataLst>
              <p:tags r:id="rId6"/>
            </p:custDataLst>
          </p:nvPr>
        </p:nvSpPr>
        <p:spPr>
          <a:xfrm rot="5078397">
            <a:off x="3962579" y="1437601"/>
            <a:ext cx="3828038" cy="3484585"/>
          </a:xfrm>
          <a:custGeom>
            <a:avLst/>
            <a:gdLst/>
            <a:ahLst/>
            <a:cxnLst/>
            <a:rect l="l" t="t" r="r" b="b"/>
            <a:pathLst>
              <a:path w="3828038" h="3484585">
                <a:moveTo>
                  <a:pt x="2827610" y="2587142"/>
                </a:moveTo>
                <a:cubicBezTo>
                  <a:pt x="3076251" y="2364191"/>
                  <a:pt x="3216440" y="2059934"/>
                  <a:pt x="3216440" y="1742294"/>
                </a:cubicBezTo>
                <a:cubicBezTo>
                  <a:pt x="3216440" y="1454810"/>
                  <a:pt x="3101597" y="1177176"/>
                  <a:pt x="2893533" y="961006"/>
                </a:cubicBezTo>
                <a:lnTo>
                  <a:pt x="3353610" y="594150"/>
                </a:lnTo>
                <a:cubicBezTo>
                  <a:pt x="3659324" y="911800"/>
                  <a:pt x="3828040" y="1319784"/>
                  <a:pt x="3828040" y="1742294"/>
                </a:cubicBezTo>
                <a:cubicBezTo>
                  <a:pt x="3828040" y="2209000"/>
                  <a:pt x="3622100" y="2656351"/>
                  <a:pt x="3256664" y="2983840"/>
                </a:cubicBezTo>
                <a:lnTo>
                  <a:pt x="3592334" y="3294222"/>
                </a:lnTo>
                <a:lnTo>
                  <a:pt x="2483262" y="3286477"/>
                </a:lnTo>
                <a:lnTo>
                  <a:pt x="2491950" y="2276761"/>
                </a:lnTo>
                <a:lnTo>
                  <a:pt x="2827610" y="2587142"/>
                </a:lnTo>
                <a:close/>
              </a:path>
            </a:pathLst>
          </a:custGeom>
          <a:solidFill>
            <a:schemeClr val="accent2"/>
          </a:solidFill>
          <a:ln w="3175">
            <a:solidFill>
              <a:srgbClr val="2676FF"/>
            </a:solidFill>
            <a:prstDash val="solid"/>
          </a:ln>
          <a:effectLst>
            <a:outerShdw blurRad="50800" dist="38100" dir="2700000" algn="tl">
              <a:srgbClr val="000000">
                <a:alpha val="39999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内容1-[1]【1】"/>
          <p:cNvSpPr txBox="1"/>
          <p:nvPr>
            <p:custDataLst>
              <p:tags r:id="rId7"/>
            </p:custDataLst>
          </p:nvPr>
        </p:nvSpPr>
        <p:spPr>
          <a:xfrm>
            <a:off x="465088" y="2042704"/>
            <a:ext cx="3401789" cy="184439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在正常使用阶段，Device（本机环境）与Infra（服务端/网络）协同，完成钱包的相关操作。当设备更换时，Device与Recovery（备份份）结合，能够无缝恢复账号能力，确保用户连续体验。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标题1-[1]【1】"/>
          <p:cNvSpPr txBox="1"/>
          <p:nvPr>
            <p:custDataLst>
              <p:tags r:id="rId8"/>
            </p:custDataLst>
          </p:nvPr>
        </p:nvSpPr>
        <p:spPr>
          <a:xfrm>
            <a:off x="862469" y="1567527"/>
            <a:ext cx="3349624" cy="4823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正常使用与换机恢复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子内容2-[2]【1】"/>
          <p:cNvSpPr txBox="1"/>
          <p:nvPr>
            <p:custDataLst>
              <p:tags r:id="rId9"/>
            </p:custDataLst>
          </p:nvPr>
        </p:nvSpPr>
        <p:spPr>
          <a:xfrm>
            <a:off x="8105589" y="1965494"/>
            <a:ext cx="3621323" cy="1844395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通过云端存储的加密备份数据，用户能够在换设备时迅速恢复账号，这一过程不仅安全，而且极为便捷，确保了账号能力的快速回归，让用户在设备更换后能够立即继续使用，而无需重新配置。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1" name="子标题2-[2]【1】"/>
          <p:cNvSpPr txBox="1"/>
          <p:nvPr>
            <p:custDataLst>
              <p:tags r:id="rId10"/>
            </p:custDataLst>
          </p:nvPr>
        </p:nvSpPr>
        <p:spPr>
          <a:xfrm>
            <a:off x="7760374" y="1490317"/>
            <a:ext cx="3349624" cy="4823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恢复过程便捷性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2" name="子内容3-[3]【1】"/>
          <p:cNvSpPr txBox="1"/>
          <p:nvPr>
            <p:custDataLst>
              <p:tags r:id="rId11"/>
            </p:custDataLst>
          </p:nvPr>
        </p:nvSpPr>
        <p:spPr>
          <a:xfrm>
            <a:off x="3164574" y="5751611"/>
            <a:ext cx="5380681" cy="963513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MPC钱包的Design理念确保了账号能力的连续性，无论是Device、Infra还是Recovery，都能够无缝对接，让用户在不同设备间切换时，无需担心账号问题，真正实现无缝体验。
</a:t>
            </a:r>
            <a:endParaRPr lang="zh-CN" altLang="en-US" sz="13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3" name="子标题3-[3]【1】"/>
          <p:cNvSpPr txBox="1"/>
          <p:nvPr>
            <p:custDataLst>
              <p:tags r:id="rId12"/>
            </p:custDataLst>
          </p:nvPr>
        </p:nvSpPr>
        <p:spPr>
          <a:xfrm>
            <a:off x="4180103" y="5276434"/>
            <a:ext cx="3349624" cy="482348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账号能力的连续性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序号"/>
          <p:cNvSpPr/>
          <p:nvPr>
            <p:custDataLst>
              <p:tags r:id="rId1"/>
            </p:custDataLst>
          </p:nvPr>
        </p:nvSpPr>
        <p:spPr>
          <a:xfrm>
            <a:off x="5467547" y="1418031"/>
            <a:ext cx="1256905" cy="1413510"/>
          </a:xfrm>
          <a:custGeom>
            <a:avLst/>
            <a:gdLst/>
            <a:ahLst/>
            <a:cxnLst/>
            <a:rect l="l" t="t" r="r" b="b"/>
            <a:pathLst>
              <a:path w="1256905" h="1446550">
                <a:moveTo>
                  <a:pt x="0" y="0"/>
                </a:moveTo>
                <a:lnTo>
                  <a:pt x="1256909" y="0"/>
                </a:lnTo>
                <a:lnTo>
                  <a:pt x="1256909" y="1446552"/>
                </a:lnTo>
                <a:lnTo>
                  <a:pt x="0" y="1446552"/>
                </a:lnTo>
                <a:close/>
              </a:path>
            </a:pathLst>
          </a:custGeom>
        </p:spPr>
        <p:txBody>
          <a:bodyPr spcFirstLastPara="0" lIns="51435" tIns="34290" rIns="51435" bIns="25718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0</a:t>
            </a:r>
            <a:r>
              <a:rPr lang="en-US" altLang="zh-CN" sz="8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4</a:t>
            </a:r>
            <a:endParaRPr lang="en-US" altLang="zh-CN" sz="8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" name="标题"/>
          <p:cNvSpPr txBox="1"/>
          <p:nvPr>
            <p:custDataLst>
              <p:tags r:id="rId2"/>
            </p:custDataLst>
          </p:nvPr>
        </p:nvSpPr>
        <p:spPr>
          <a:xfrm>
            <a:off x="1411550" y="2750185"/>
            <a:ext cx="9250532" cy="1357630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未来发展方向</a:t>
            </a:r>
            <a:endParaRPr lang="zh-CN" altLang="en-US" sz="60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4" name="副标题"/>
          <p:cNvSpPr txBox="1"/>
          <p:nvPr>
            <p:custDataLst>
              <p:tags r:id="rId3"/>
            </p:custDataLst>
          </p:nvPr>
        </p:nvSpPr>
        <p:spPr>
          <a:xfrm>
            <a:off x="2240280" y="4225290"/>
            <a:ext cx="7711440" cy="1176655"/>
          </a:xfrm>
          <a:prstGeom prst="rect">
            <a:avLst/>
          </a:prstGeom>
        </p:spPr>
        <p:txBody>
          <a:bodyPr spcFirstLastPara="0" wrap="square" lIns="38576" tIns="34290" rIns="38576" bIns="25718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Future development direction</a:t>
            </a:r>
            <a:endParaRPr lang="zh-CN" altLang="en-US" sz="14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8415" b="18415"/>
          <a:stretch>
            <a:fillRect/>
          </a:stretch>
        </p:blipFill>
        <p:spPr>
          <a:xfrm>
            <a:off x="1087602" y="4924570"/>
            <a:ext cx="4593376" cy="1933428"/>
          </a:xfrm>
          <a:custGeom>
            <a:avLst/>
            <a:gdLst/>
            <a:ahLst/>
            <a:cxnLst/>
            <a:rect l="l" t="t" r="r" b="b"/>
            <a:pathLst>
              <a:path w="4593376" h="1933428">
                <a:moveTo>
                  <a:pt x="2296687" y="0"/>
                </a:moveTo>
                <a:cubicBezTo>
                  <a:pt x="2521124" y="0"/>
                  <a:pt x="2745572" y="85620"/>
                  <a:pt x="2916812" y="256861"/>
                </a:cubicBezTo>
                <a:lnTo>
                  <a:pt x="4593374" y="1933432"/>
                </a:lnTo>
                <a:lnTo>
                  <a:pt x="0" y="1933432"/>
                </a:lnTo>
                <a:lnTo>
                  <a:pt x="1676562" y="256861"/>
                </a:lnTo>
                <a:cubicBezTo>
                  <a:pt x="1847802" y="85620"/>
                  <a:pt x="2072250" y="0"/>
                  <a:pt x="2296687" y="0"/>
                </a:cubicBezTo>
                <a:close/>
              </a:path>
            </a:pathLst>
          </a:custGeom>
        </p:spPr>
      </p:pic>
      <p:pic>
        <p:nvPicPr>
          <p:cNvPr id="5" name="图片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33953" r="33953"/>
          <a:stretch>
            <a:fillRect/>
          </a:stretch>
        </p:blipFill>
        <p:spPr>
          <a:xfrm>
            <a:off x="0" y="1144738"/>
            <a:ext cx="2751208" cy="5713260"/>
          </a:xfrm>
          <a:custGeom>
            <a:avLst/>
            <a:gdLst/>
            <a:ahLst/>
            <a:cxnLst/>
            <a:rect l="l" t="t" r="r" b="b"/>
            <a:pathLst>
              <a:path w="2751208" h="5713260">
                <a:moveTo>
                  <a:pt x="0" y="0"/>
                </a:moveTo>
                <a:lnTo>
                  <a:pt x="13926" y="12592"/>
                </a:lnTo>
                <a:lnTo>
                  <a:pt x="2494340" y="2493007"/>
                </a:lnTo>
                <a:cubicBezTo>
                  <a:pt x="2836831" y="2835488"/>
                  <a:pt x="2836831" y="3390767"/>
                  <a:pt x="2494340" y="3733247"/>
                </a:cubicBezTo>
                <a:lnTo>
                  <a:pt x="514340" y="5713257"/>
                </a:lnTo>
                <a:lnTo>
                  <a:pt x="0" y="5713257"/>
                </a:lnTo>
                <a:close/>
              </a:path>
            </a:pathLst>
          </a:custGeom>
        </p:spPr>
      </p:pic>
      <p:pic>
        <p:nvPicPr>
          <p:cNvPr id="6" name="图片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6415" b="16415"/>
          <a:stretch>
            <a:fillRect/>
          </a:stretch>
        </p:blipFill>
        <p:spPr>
          <a:xfrm>
            <a:off x="26886" y="2"/>
            <a:ext cx="6714806" cy="3804547"/>
          </a:xfrm>
          <a:custGeom>
            <a:avLst/>
            <a:gdLst/>
            <a:ahLst/>
            <a:cxnLst/>
            <a:rect l="l" t="t" r="r" b="b"/>
            <a:pathLst>
              <a:path w="6714806" h="3804547">
                <a:moveTo>
                  <a:pt x="125854" y="0"/>
                </a:moveTo>
                <a:lnTo>
                  <a:pt x="6588948" y="0"/>
                </a:lnTo>
                <a:lnTo>
                  <a:pt x="6650594" y="117138"/>
                </a:lnTo>
                <a:cubicBezTo>
                  <a:pt x="6779019" y="433845"/>
                  <a:pt x="6714810" y="810406"/>
                  <a:pt x="6457940" y="1067267"/>
                </a:cubicBezTo>
                <a:lnTo>
                  <a:pt x="3977526" y="3547682"/>
                </a:lnTo>
                <a:cubicBezTo>
                  <a:pt x="3635045" y="3890172"/>
                  <a:pt x="3079766" y="3890172"/>
                  <a:pt x="2737285" y="3547682"/>
                </a:cubicBezTo>
                <a:lnTo>
                  <a:pt x="256861" y="1067267"/>
                </a:lnTo>
                <a:cubicBezTo>
                  <a:pt x="0" y="810406"/>
                  <a:pt x="-64218" y="433845"/>
                  <a:pt x="64218" y="117129"/>
                </a:cubicBezTo>
                <a:close/>
              </a:path>
            </a:pathLst>
          </a:custGeom>
        </p:spPr>
      </p:pic>
      <p:sp>
        <p:nvSpPr>
          <p:cNvPr id="7" name="Freeform 1"/>
          <p:cNvSpPr/>
          <p:nvPr>
            <p:custDataLst>
              <p:tags r:id="rId9"/>
            </p:custDataLst>
          </p:nvPr>
        </p:nvSpPr>
        <p:spPr>
          <a:xfrm flipH="1">
            <a:off x="4228343" y="2"/>
            <a:ext cx="7963656" cy="6857999"/>
          </a:xfrm>
          <a:custGeom>
            <a:avLst/>
            <a:gdLst/>
            <a:ahLst/>
            <a:cxnLst/>
            <a:rect l="l" t="t" r="r" b="b"/>
            <a:pathLst>
              <a:path w="7963656" h="6857999">
                <a:moveTo>
                  <a:pt x="0" y="0"/>
                </a:moveTo>
                <a:lnTo>
                  <a:pt x="4345382" y="0"/>
                </a:lnTo>
                <a:lnTo>
                  <a:pt x="7511396" y="3166024"/>
                </a:lnTo>
                <a:cubicBezTo>
                  <a:pt x="8114404" y="3769033"/>
                  <a:pt x="8114404" y="4746698"/>
                  <a:pt x="7511396" y="5349706"/>
                </a:cubicBezTo>
                <a:lnTo>
                  <a:pt x="6003112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50000">
                <a:schemeClr val="bg1">
                  <a:alpha val="0"/>
                </a:schemeClr>
              </a:gs>
              <a:gs pos="100000">
                <a:schemeClr val="accent1">
                  <a:alpha val="19999"/>
                </a:schemeClr>
              </a:gs>
            </a:gsLst>
            <a:lin ang="0"/>
          </a:gra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"/>
          <p:cNvSpPr txBox="1"/>
          <p:nvPr>
            <p:custDataLst>
              <p:tags r:id="rId10"/>
            </p:custDataLst>
          </p:nvPr>
        </p:nvSpPr>
        <p:spPr>
          <a:xfrm>
            <a:off x="6394933" y="238391"/>
            <a:ext cx="5443071" cy="939909"/>
          </a:xfrm>
          <a:prstGeom prst="rect">
            <a:avLst/>
          </a:prstGeom>
        </p:spPr>
        <p:txBody>
          <a:bodyPr spcFirstLastPara="0" wrap="square" lIns="51435" tIns="34290" rIns="51435" bIns="25718" rtlCol="0" anchor="b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技术优化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9" name="内容"/>
          <p:cNvSpPr txBox="1"/>
          <p:nvPr>
            <p:custDataLst>
              <p:tags r:id="rId11"/>
            </p:custDataLst>
          </p:nvPr>
        </p:nvSpPr>
        <p:spPr>
          <a:xfrm>
            <a:off x="6394759" y="2261937"/>
            <a:ext cx="5450089" cy="4303646"/>
          </a:xfrm>
          <a:prstGeom prst="rect">
            <a:avLst/>
          </a:prstGeom>
        </p:spPr>
        <p:txBody>
          <a:bodyPr spcFirstLastPara="1" wrap="square" lIns="34284" tIns="22850" rIns="34284" bIns="17137" rtlCol="0" anchor="t"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1.存储位置多样性</a:t>
            </a:r>
            <a:endParaRPr lang="zh-CN" altLang="en-US" sz="16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当前备份仅支持Google Drive、iCloud等云端存储，未来有望扩展至更多存储平台，以适应不同用户的需求。同时，存储位置的多样性也将进一步提升备份的安全性和便捷性。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10000"/>
              </a:lnSpc>
              <a:spcBef>
                <a:spcPts val="1500"/>
              </a:spcBef>
            </a:pPr>
            <a:r>
              <a:rPr lang="zh-CN" alt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2.加密技术升级</a:t>
            </a:r>
            <a:endParaRPr lang="zh-CN" altLang="en-US" sz="16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随着技术的发展，加密技术也在不断进步。未来，我们有望看到更高级的加密算法被应用于MPC钱包，从而进一步提升其安全性，确保用户的数据更加得到保护。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10000"/>
              </a:lnSpc>
              <a:spcBef>
                <a:spcPts val="1500"/>
              </a:spcBef>
            </a:pPr>
            <a:r>
              <a:rPr lang="zh-CN" alt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3.用户界面优化</a:t>
            </a:r>
            <a:endParaRPr lang="zh-CN" altLang="en-US" sz="16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2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用户界面将得到进一步优化，通过更直观的操作和更快的速度，提升用户体验。同时，界面设计也将更加精美，确保用户在使用MPC钱包时，能够找到更加便捷和安全的操作方式。
</a:t>
            </a:r>
            <a:endParaRPr lang="zh-CN" altLang="en-US" sz="1400" b="0" i="0" u="none" strike="noStrike">
              <a:solidFill>
                <a:schemeClr val="bg2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Rounded Rectangle 21"/>
          <p:cNvSpPr/>
          <p:nvPr>
            <p:custDataLst>
              <p:tags r:id="rId12"/>
            </p:custDataLst>
          </p:nvPr>
        </p:nvSpPr>
        <p:spPr>
          <a:xfrm>
            <a:off x="11661968" y="373380"/>
            <a:ext cx="182880" cy="381000"/>
          </a:xfrm>
          <a:custGeom>
            <a:avLst/>
            <a:gdLst/>
            <a:ahLst/>
            <a:cxnLst/>
            <a:rect l="l" t="t" r="r" b="b"/>
            <a:pathLst>
              <a:path w="182880" h="381000">
                <a:moveTo>
                  <a:pt x="0" y="30480"/>
                </a:moveTo>
                <a:cubicBezTo>
                  <a:pt x="0" y="13658"/>
                  <a:pt x="13658" y="0"/>
                  <a:pt x="30480" y="0"/>
                </a:cubicBezTo>
                <a:lnTo>
                  <a:pt x="152400" y="0"/>
                </a:lnTo>
                <a:cubicBezTo>
                  <a:pt x="169222" y="0"/>
                  <a:pt x="182880" y="13658"/>
                  <a:pt x="182880" y="30480"/>
                </a:cubicBezTo>
                <a:lnTo>
                  <a:pt x="182880" y="350520"/>
                </a:lnTo>
                <a:cubicBezTo>
                  <a:pt x="182880" y="367342"/>
                  <a:pt x="169222" y="381000"/>
                  <a:pt x="152400" y="381000"/>
                </a:cubicBezTo>
                <a:lnTo>
                  <a:pt x="30480" y="381000"/>
                </a:lnTo>
                <a:cubicBezTo>
                  <a:pt x="13658" y="381000"/>
                  <a:pt x="0" y="367342"/>
                  <a:pt x="0" y="35052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六边形 4"/>
          <p:cNvSpPr/>
          <p:nvPr>
            <p:custDataLst>
              <p:tags r:id="rId1"/>
            </p:custDataLst>
          </p:nvPr>
        </p:nvSpPr>
        <p:spPr>
          <a:xfrm>
            <a:off x="11104335" y="512763"/>
            <a:ext cx="576263" cy="496887"/>
          </a:xfrm>
          <a:custGeom>
            <a:avLst/>
            <a:gdLst/>
            <a:ahLst/>
            <a:cxnLst/>
            <a:rect l="l" t="t" r="r" b="b"/>
            <a:pathLst>
              <a:path w="576263" h="496887">
                <a:moveTo>
                  <a:pt x="0" y="251260"/>
                </a:moveTo>
                <a:lnTo>
                  <a:pt x="143751" y="0"/>
                </a:lnTo>
                <a:lnTo>
                  <a:pt x="436759" y="2791"/>
                </a:lnTo>
                <a:lnTo>
                  <a:pt x="576262" y="253270"/>
                </a:lnTo>
                <a:lnTo>
                  <a:pt x="432740" y="495729"/>
                </a:lnTo>
                <a:lnTo>
                  <a:pt x="141199" y="496891"/>
                </a:lnTo>
                <a:lnTo>
                  <a:pt x="0" y="251260"/>
                </a:ln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7"/>
          <p:cNvSpPr/>
          <p:nvPr>
            <p:custDataLst>
              <p:tags r:id="rId2"/>
            </p:custDataLst>
          </p:nvPr>
        </p:nvSpPr>
        <p:spPr>
          <a:xfrm flipH="1">
            <a:off x="11198276" y="570364"/>
            <a:ext cx="394357" cy="394186"/>
          </a:xfrm>
          <a:custGeom>
            <a:avLst/>
            <a:gdLst/>
            <a:ahLst/>
            <a:cxnLst/>
            <a:rect l="l" t="t" r="r" b="b"/>
            <a:pathLst>
              <a:path w="394357" h="394186">
                <a:moveTo>
                  <a:pt x="0" y="197091"/>
                </a:moveTo>
                <a:cubicBezTo>
                  <a:pt x="0" y="88314"/>
                  <a:pt x="88352" y="0"/>
                  <a:pt x="197177" y="0"/>
                </a:cubicBezTo>
                <a:cubicBezTo>
                  <a:pt x="306002" y="0"/>
                  <a:pt x="394354" y="88314"/>
                  <a:pt x="394354" y="197091"/>
                </a:cubicBezTo>
                <a:cubicBezTo>
                  <a:pt x="394354" y="249363"/>
                  <a:pt x="373580" y="299494"/>
                  <a:pt x="336603" y="336456"/>
                </a:cubicBezTo>
                <a:cubicBezTo>
                  <a:pt x="299625" y="373418"/>
                  <a:pt x="249472" y="394183"/>
                  <a:pt x="197177" y="394183"/>
                </a:cubicBezTo>
                <a:cubicBezTo>
                  <a:pt x="144882" y="394183"/>
                  <a:pt x="94729" y="373418"/>
                  <a:pt x="57751" y="336456"/>
                </a:cubicBezTo>
                <a:cubicBezTo>
                  <a:pt x="20774" y="299494"/>
                  <a:pt x="0" y="249363"/>
                  <a:pt x="0" y="197091"/>
                </a:cubicBezTo>
                <a:close/>
              </a:path>
            </a:pathLst>
          </a:custGeom>
          <a:ln w="9525">
            <a:solidFill>
              <a:schemeClr val="tx2">
                <a:alpha val="39999"/>
              </a:schemeClr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/>
          <p:cNvSpPr txBox="1"/>
          <p:nvPr>
            <p:custDataLst>
              <p:tags r:id="rId3"/>
            </p:custDataLst>
          </p:nvPr>
        </p:nvSpPr>
        <p:spPr>
          <a:xfrm>
            <a:off x="336884" y="196145"/>
            <a:ext cx="11496384" cy="720348"/>
          </a:xfrm>
          <a:prstGeom prst="rect">
            <a:avLst/>
          </a:prstGeom>
        </p:spPr>
        <p:txBody>
          <a:bodyPr spcFirstLastPara="0" wrap="square" lIns="51435" tIns="34290" rIns="51435" bIns="25718" rtlCol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3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商业应用</a:t>
            </a:r>
            <a:endParaRPr lang="zh-CN" altLang="en-US" sz="3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5" name="装饰1-子标题1-[1]【1】"/>
          <p:cNvSpPr/>
          <p:nvPr>
            <p:custDataLst>
              <p:tags r:id="rId4"/>
            </p:custDataLst>
          </p:nvPr>
        </p:nvSpPr>
        <p:spPr>
          <a:xfrm>
            <a:off x="516730" y="2946952"/>
            <a:ext cx="3295716" cy="3904517"/>
          </a:xfrm>
          <a:custGeom>
            <a:avLst/>
            <a:gdLst/>
            <a:ahLst/>
            <a:cxnLst/>
            <a:rect l="l" t="t" r="r" b="b"/>
            <a:pathLst>
              <a:path w="3295716" h="3904517">
                <a:moveTo>
                  <a:pt x="0" y="0"/>
                </a:moveTo>
                <a:lnTo>
                  <a:pt x="3295717" y="0"/>
                </a:lnTo>
                <a:lnTo>
                  <a:pt x="3295717" y="3904517"/>
                </a:lnTo>
                <a:lnTo>
                  <a:pt x="0" y="3904517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装饰1-子标题1-[1]【1】"/>
          <p:cNvSpPr/>
          <p:nvPr>
            <p:custDataLst>
              <p:tags r:id="rId5"/>
            </p:custDataLst>
          </p:nvPr>
        </p:nvSpPr>
        <p:spPr>
          <a:xfrm>
            <a:off x="516730" y="1711632"/>
            <a:ext cx="3295716" cy="2592386"/>
          </a:xfrm>
          <a:custGeom>
            <a:avLst/>
            <a:gdLst/>
            <a:ahLst/>
            <a:cxnLst/>
            <a:rect l="l" t="t" r="r" b="b"/>
            <a:pathLst>
              <a:path w="3295716" h="2592386">
                <a:moveTo>
                  <a:pt x="3295717" y="1296190"/>
                </a:moveTo>
                <a:cubicBezTo>
                  <a:pt x="3295717" y="2012061"/>
                  <a:pt x="2557948" y="2592390"/>
                  <a:pt x="1647854" y="2592390"/>
                </a:cubicBezTo>
                <a:cubicBezTo>
                  <a:pt x="737768" y="2592390"/>
                  <a:pt x="0" y="2012061"/>
                  <a:pt x="0" y="1296190"/>
                </a:cubicBezTo>
                <a:cubicBezTo>
                  <a:pt x="0" y="580330"/>
                  <a:pt x="737768" y="0"/>
                  <a:pt x="1647854" y="0"/>
                </a:cubicBezTo>
                <a:cubicBezTo>
                  <a:pt x="2557948" y="0"/>
                  <a:pt x="3295717" y="580330"/>
                  <a:pt x="3295717" y="129619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装饰1-子标题1-[1]【1】"/>
          <p:cNvSpPr/>
          <p:nvPr>
            <p:custDataLst>
              <p:tags r:id="rId6"/>
            </p:custDataLst>
          </p:nvPr>
        </p:nvSpPr>
        <p:spPr>
          <a:xfrm>
            <a:off x="834095" y="1961269"/>
            <a:ext cx="2660985" cy="2093111"/>
          </a:xfrm>
          <a:custGeom>
            <a:avLst/>
            <a:gdLst/>
            <a:ahLst/>
            <a:cxnLst/>
            <a:rect l="l" t="t" r="r" b="b"/>
            <a:pathLst>
              <a:path w="2660986" h="2093111">
                <a:moveTo>
                  <a:pt x="2660990" y="1046559"/>
                </a:moveTo>
                <a:cubicBezTo>
                  <a:pt x="2660990" y="1624556"/>
                  <a:pt x="2065306" y="2093109"/>
                  <a:pt x="1330490" y="2093109"/>
                </a:cubicBezTo>
                <a:cubicBezTo>
                  <a:pt x="595684" y="2093109"/>
                  <a:pt x="0" y="1624556"/>
                  <a:pt x="0" y="1046559"/>
                </a:cubicBezTo>
                <a:cubicBezTo>
                  <a:pt x="0" y="468563"/>
                  <a:pt x="595684" y="0"/>
                  <a:pt x="1330490" y="0"/>
                </a:cubicBezTo>
                <a:cubicBezTo>
                  <a:pt x="2065306" y="0"/>
                  <a:pt x="2660990" y="468563"/>
                  <a:pt x="2660990" y="104655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子内容1-[1]【1】"/>
          <p:cNvSpPr txBox="1"/>
          <p:nvPr>
            <p:custDataLst>
              <p:tags r:id="rId7"/>
            </p:custDataLst>
          </p:nvPr>
        </p:nvSpPr>
        <p:spPr>
          <a:xfrm>
            <a:off x="687913" y="4849859"/>
            <a:ext cx="2826950" cy="1708031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MPC钱包旨在成为App、网页、Mini App等嵌入式场景中的首选，通过提供更接近Web</a:t>
            </a:r>
            <a:r>
              <a:rPr lang="zh-CN" altLang="en-US" sz="13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</a:t>
            </a: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的登录体验和强大的安全性，它有望在这些场景中得到广泛应用，成为保护数字资产的重要工具。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9" name="子标题1-[1]【1】"/>
          <p:cNvSpPr txBox="1"/>
          <p:nvPr>
            <p:custDataLst>
              <p:tags r:id="rId8"/>
            </p:custDataLst>
          </p:nvPr>
        </p:nvSpPr>
        <p:spPr>
          <a:xfrm>
            <a:off x="613900" y="4283807"/>
            <a:ext cx="2974976" cy="6068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嵌入式钱包普及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0" name="装饰2-子标题2-[2]【1】"/>
          <p:cNvSpPr/>
          <p:nvPr>
            <p:custDataLst>
              <p:tags r:id="rId9"/>
            </p:custDataLst>
          </p:nvPr>
        </p:nvSpPr>
        <p:spPr>
          <a:xfrm>
            <a:off x="4448142" y="2946952"/>
            <a:ext cx="3295716" cy="3904517"/>
          </a:xfrm>
          <a:custGeom>
            <a:avLst/>
            <a:gdLst/>
            <a:ahLst/>
            <a:cxnLst/>
            <a:rect l="l" t="t" r="r" b="b"/>
            <a:pathLst>
              <a:path w="3295716" h="3904517">
                <a:moveTo>
                  <a:pt x="0" y="0"/>
                </a:moveTo>
                <a:lnTo>
                  <a:pt x="3295717" y="0"/>
                </a:lnTo>
                <a:lnTo>
                  <a:pt x="3295717" y="3904517"/>
                </a:lnTo>
                <a:lnTo>
                  <a:pt x="0" y="3904517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装饰2-子标题2-[2]【1】"/>
          <p:cNvSpPr/>
          <p:nvPr>
            <p:custDataLst>
              <p:tags r:id="rId10"/>
            </p:custDataLst>
          </p:nvPr>
        </p:nvSpPr>
        <p:spPr>
          <a:xfrm>
            <a:off x="4448142" y="1711632"/>
            <a:ext cx="3295716" cy="2592386"/>
          </a:xfrm>
          <a:custGeom>
            <a:avLst/>
            <a:gdLst/>
            <a:ahLst/>
            <a:cxnLst/>
            <a:rect l="l" t="t" r="r" b="b"/>
            <a:pathLst>
              <a:path w="3295716" h="2592386">
                <a:moveTo>
                  <a:pt x="3295717" y="1296190"/>
                </a:moveTo>
                <a:cubicBezTo>
                  <a:pt x="3295717" y="2012061"/>
                  <a:pt x="2557948" y="2592390"/>
                  <a:pt x="1647854" y="2592390"/>
                </a:cubicBezTo>
                <a:cubicBezTo>
                  <a:pt x="737768" y="2592390"/>
                  <a:pt x="0" y="2012061"/>
                  <a:pt x="0" y="1296190"/>
                </a:cubicBezTo>
                <a:cubicBezTo>
                  <a:pt x="0" y="580330"/>
                  <a:pt x="737768" y="0"/>
                  <a:pt x="1647854" y="0"/>
                </a:cubicBezTo>
                <a:cubicBezTo>
                  <a:pt x="2557948" y="0"/>
                  <a:pt x="3295717" y="580330"/>
                  <a:pt x="3295717" y="129619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装饰2-子标题2-[2]【1】"/>
          <p:cNvSpPr/>
          <p:nvPr>
            <p:custDataLst>
              <p:tags r:id="rId11"/>
            </p:custDataLst>
          </p:nvPr>
        </p:nvSpPr>
        <p:spPr>
          <a:xfrm>
            <a:off x="4765507" y="1961269"/>
            <a:ext cx="2660985" cy="2093111"/>
          </a:xfrm>
          <a:custGeom>
            <a:avLst/>
            <a:gdLst/>
            <a:ahLst/>
            <a:cxnLst/>
            <a:rect l="l" t="t" r="r" b="b"/>
            <a:pathLst>
              <a:path w="2660986" h="2093111">
                <a:moveTo>
                  <a:pt x="2660990" y="1046559"/>
                </a:moveTo>
                <a:cubicBezTo>
                  <a:pt x="2660990" y="1624556"/>
                  <a:pt x="2065306" y="2093109"/>
                  <a:pt x="1330490" y="2093109"/>
                </a:cubicBezTo>
                <a:cubicBezTo>
                  <a:pt x="595684" y="2093109"/>
                  <a:pt x="0" y="1624556"/>
                  <a:pt x="0" y="1046559"/>
                </a:cubicBezTo>
                <a:cubicBezTo>
                  <a:pt x="0" y="468563"/>
                  <a:pt x="595684" y="0"/>
                  <a:pt x="1330490" y="0"/>
                </a:cubicBezTo>
                <a:cubicBezTo>
                  <a:pt x="2065306" y="0"/>
                  <a:pt x="2660990" y="468563"/>
                  <a:pt x="2660990" y="104655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子内容2-[2]【1】"/>
          <p:cNvSpPr txBox="1"/>
          <p:nvPr>
            <p:custDataLst>
              <p:tags r:id="rId12"/>
            </p:custDataLst>
          </p:nvPr>
        </p:nvSpPr>
        <p:spPr>
          <a:xfrm>
            <a:off x="4682525" y="4849859"/>
            <a:ext cx="2826950" cy="1708031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随着技术的发展，MPC钱包将进一步提升跨平台兼容性，确保在更多设备上顺畅运行，真正实现无缝体验。这一趋势将让它在更多场景中发挥作用，成为保护数字资产不可或缺的一部分。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4" name="子标题2-[2]【1】"/>
          <p:cNvSpPr txBox="1"/>
          <p:nvPr>
            <p:custDataLst>
              <p:tags r:id="rId13"/>
            </p:custDataLst>
          </p:nvPr>
        </p:nvSpPr>
        <p:spPr>
          <a:xfrm>
            <a:off x="4608512" y="4270357"/>
            <a:ext cx="2974976" cy="643002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跨平台兼容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5" name="装饰3-子标题3-[3]【1】"/>
          <p:cNvSpPr/>
          <p:nvPr>
            <p:custDataLst>
              <p:tags r:id="rId14"/>
            </p:custDataLst>
          </p:nvPr>
        </p:nvSpPr>
        <p:spPr>
          <a:xfrm>
            <a:off x="8379556" y="2946952"/>
            <a:ext cx="3295716" cy="3904517"/>
          </a:xfrm>
          <a:custGeom>
            <a:avLst/>
            <a:gdLst/>
            <a:ahLst/>
            <a:cxnLst/>
            <a:rect l="l" t="t" r="r" b="b"/>
            <a:pathLst>
              <a:path w="3295716" h="3904517">
                <a:moveTo>
                  <a:pt x="0" y="0"/>
                </a:moveTo>
                <a:lnTo>
                  <a:pt x="3295717" y="0"/>
                </a:lnTo>
                <a:lnTo>
                  <a:pt x="3295717" y="3904517"/>
                </a:lnTo>
                <a:lnTo>
                  <a:pt x="0" y="3904517"/>
                </a:lnTo>
                <a:close/>
              </a:path>
            </a:pathLst>
          </a:custGeom>
          <a:solidFill>
            <a:schemeClr val="accent1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装饰3-子标题3-[3]【1】"/>
          <p:cNvSpPr/>
          <p:nvPr>
            <p:custDataLst>
              <p:tags r:id="rId15"/>
            </p:custDataLst>
          </p:nvPr>
        </p:nvSpPr>
        <p:spPr>
          <a:xfrm>
            <a:off x="8379556" y="1711632"/>
            <a:ext cx="3295716" cy="2592386"/>
          </a:xfrm>
          <a:custGeom>
            <a:avLst/>
            <a:gdLst/>
            <a:ahLst/>
            <a:cxnLst/>
            <a:rect l="l" t="t" r="r" b="b"/>
            <a:pathLst>
              <a:path w="3295716" h="2592386">
                <a:moveTo>
                  <a:pt x="3295717" y="1296190"/>
                </a:moveTo>
                <a:cubicBezTo>
                  <a:pt x="3295717" y="2012061"/>
                  <a:pt x="2557948" y="2592390"/>
                  <a:pt x="1647854" y="2592390"/>
                </a:cubicBezTo>
                <a:cubicBezTo>
                  <a:pt x="737768" y="2592390"/>
                  <a:pt x="0" y="2012061"/>
                  <a:pt x="0" y="1296190"/>
                </a:cubicBezTo>
                <a:cubicBezTo>
                  <a:pt x="0" y="580330"/>
                  <a:pt x="737768" y="0"/>
                  <a:pt x="1647854" y="0"/>
                </a:cubicBezTo>
                <a:cubicBezTo>
                  <a:pt x="2557948" y="0"/>
                  <a:pt x="3295717" y="580330"/>
                  <a:pt x="3295717" y="129619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装饰3-子标题3-[3]【1】"/>
          <p:cNvSpPr/>
          <p:nvPr>
            <p:custDataLst>
              <p:tags r:id="rId16"/>
            </p:custDataLst>
          </p:nvPr>
        </p:nvSpPr>
        <p:spPr>
          <a:xfrm>
            <a:off x="8696921" y="1961269"/>
            <a:ext cx="2660985" cy="2093111"/>
          </a:xfrm>
          <a:custGeom>
            <a:avLst/>
            <a:gdLst/>
            <a:ahLst/>
            <a:cxnLst/>
            <a:rect l="l" t="t" r="r" b="b"/>
            <a:pathLst>
              <a:path w="2660986" h="2093111">
                <a:moveTo>
                  <a:pt x="2660990" y="1046559"/>
                </a:moveTo>
                <a:cubicBezTo>
                  <a:pt x="2660990" y="1624556"/>
                  <a:pt x="2065306" y="2093109"/>
                  <a:pt x="1330490" y="2093109"/>
                </a:cubicBezTo>
                <a:cubicBezTo>
                  <a:pt x="595684" y="2093109"/>
                  <a:pt x="0" y="1624556"/>
                  <a:pt x="0" y="1046559"/>
                </a:cubicBezTo>
                <a:cubicBezTo>
                  <a:pt x="0" y="468563"/>
                  <a:pt x="595684" y="0"/>
                  <a:pt x="1330490" y="0"/>
                </a:cubicBezTo>
                <a:cubicBezTo>
                  <a:pt x="2065306" y="0"/>
                  <a:pt x="2660990" y="468563"/>
                  <a:pt x="2660990" y="1046559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子内容3-[3]【1】"/>
          <p:cNvSpPr txBox="1"/>
          <p:nvPr>
            <p:custDataLst>
              <p:tags r:id="rId17"/>
            </p:custDataLst>
          </p:nvPr>
        </p:nvSpPr>
        <p:spPr>
          <a:xfrm>
            <a:off x="8613939" y="4849859"/>
            <a:ext cx="2826950" cy="1708031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3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MPC钱包通过分布式存储和计算技术，确保用户数据在设备间安全流转，即使单个设备受损，也能快速恢复。这一特性让它成为跨平台数据安全流转的理想选择，为用户数据提供坚实的保障。
</a:t>
            </a:r>
            <a:endParaRPr lang="zh-CN" altLang="en-US" sz="13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19" name="子标题3-[3]【1】"/>
          <p:cNvSpPr txBox="1"/>
          <p:nvPr>
            <p:custDataLst>
              <p:tags r:id="rId18"/>
            </p:custDataLst>
          </p:nvPr>
        </p:nvSpPr>
        <p:spPr>
          <a:xfrm>
            <a:off x="8539926" y="4224153"/>
            <a:ext cx="2974976" cy="767081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800" b="0" i="0" u="none" strike="noStrike">
                <a:solidFill>
                  <a:schemeClr val="tx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数据安全性保障</a:t>
            </a:r>
            <a:endParaRPr lang="zh-CN" altLang="en-US" sz="1800" b="0" i="0" u="none" strike="noStrike">
              <a:solidFill>
                <a:schemeClr val="tx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0" name="装饰1-子标题1-[1]【1】"/>
          <p:cNvSpPr/>
          <p:nvPr>
            <p:custDataLst>
              <p:tags r:id="rId19"/>
            </p:custDataLst>
          </p:nvPr>
        </p:nvSpPr>
        <p:spPr>
          <a:xfrm>
            <a:off x="1661781" y="2461881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icon1-[1]【1】"/>
          <p:cNvSpPr/>
          <p:nvPr>
            <p:custDataLst>
              <p:tags r:id="rId20"/>
            </p:custDataLst>
          </p:nvPr>
        </p:nvSpPr>
        <p:spPr>
          <a:xfrm>
            <a:off x="1895441" y="2694355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628650" h="628650">
                <a:moveTo>
                  <a:pt x="314325" y="0"/>
                </a:moveTo>
                <a:cubicBezTo>
                  <a:pt x="139482" y="0"/>
                  <a:pt x="0" y="143411"/>
                  <a:pt x="0" y="314325"/>
                </a:cubicBezTo>
                <a:cubicBezTo>
                  <a:pt x="0" y="489168"/>
                  <a:pt x="143411" y="628650"/>
                  <a:pt x="314325" y="628650"/>
                </a:cubicBezTo>
                <a:cubicBezTo>
                  <a:pt x="485239" y="628650"/>
                  <a:pt x="628650" y="485239"/>
                  <a:pt x="628650" y="314325"/>
                </a:cubicBezTo>
                <a:cubicBezTo>
                  <a:pt x="628650" y="143411"/>
                  <a:pt x="489168" y="0"/>
                  <a:pt x="314325" y="0"/>
                </a:cubicBezTo>
                <a:close/>
                <a:moveTo>
                  <a:pt x="314325" y="41255"/>
                </a:moveTo>
                <a:cubicBezTo>
                  <a:pt x="465594" y="41255"/>
                  <a:pt x="587395" y="163056"/>
                  <a:pt x="587395" y="314325"/>
                </a:cubicBezTo>
                <a:cubicBezTo>
                  <a:pt x="587395" y="465594"/>
                  <a:pt x="463629" y="587395"/>
                  <a:pt x="314325" y="587395"/>
                </a:cubicBezTo>
                <a:cubicBezTo>
                  <a:pt x="165021" y="587395"/>
                  <a:pt x="41255" y="463629"/>
                  <a:pt x="41255" y="314325"/>
                </a:cubicBezTo>
                <a:cubicBezTo>
                  <a:pt x="41255" y="165021"/>
                  <a:pt x="163056" y="41255"/>
                  <a:pt x="314325" y="41255"/>
                </a:cubicBezTo>
                <a:close/>
                <a:moveTo>
                  <a:pt x="153233" y="463629"/>
                </a:moveTo>
                <a:lnTo>
                  <a:pt x="194489" y="504885"/>
                </a:lnTo>
                <a:lnTo>
                  <a:pt x="330041" y="369332"/>
                </a:lnTo>
                <a:lnTo>
                  <a:pt x="194489" y="233779"/>
                </a:lnTo>
                <a:lnTo>
                  <a:pt x="153233" y="278963"/>
                </a:lnTo>
                <a:lnTo>
                  <a:pt x="245566" y="371296"/>
                </a:lnTo>
                <a:close/>
                <a:moveTo>
                  <a:pt x="298609" y="259318"/>
                </a:moveTo>
                <a:lnTo>
                  <a:pt x="434161" y="394871"/>
                </a:lnTo>
                <a:lnTo>
                  <a:pt x="475417" y="355580"/>
                </a:lnTo>
                <a:lnTo>
                  <a:pt x="383084" y="263247"/>
                </a:lnTo>
                <a:lnTo>
                  <a:pt x="475417" y="165021"/>
                </a:lnTo>
                <a:lnTo>
                  <a:pt x="434161" y="123765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装饰2-子标题2-[2]【1】"/>
          <p:cNvSpPr/>
          <p:nvPr>
            <p:custDataLst>
              <p:tags r:id="rId21"/>
            </p:custDataLst>
          </p:nvPr>
        </p:nvSpPr>
        <p:spPr>
          <a:xfrm>
            <a:off x="5609728" y="2461881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icon2-[2]【1】"/>
          <p:cNvSpPr/>
          <p:nvPr>
            <p:custDataLst>
              <p:tags r:id="rId22"/>
            </p:custDataLst>
          </p:nvPr>
        </p:nvSpPr>
        <p:spPr>
          <a:xfrm>
            <a:off x="5843388" y="2694355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9753600" h="9753600">
                <a:moveTo>
                  <a:pt x="4881562" y="3532822"/>
                </a:moveTo>
                <a:cubicBezTo>
                  <a:pt x="4266248" y="3532822"/>
                  <a:pt x="3749992" y="3953828"/>
                  <a:pt x="3591878" y="4520565"/>
                </a:cubicBezTo>
                <a:cubicBezTo>
                  <a:pt x="3453765" y="4217670"/>
                  <a:pt x="3150870" y="4002405"/>
                  <a:pt x="2798445" y="4002405"/>
                </a:cubicBezTo>
                <a:cubicBezTo>
                  <a:pt x="2316480" y="4004310"/>
                  <a:pt x="1926907" y="4394835"/>
                  <a:pt x="1924050" y="4876800"/>
                </a:cubicBezTo>
                <a:cubicBezTo>
                  <a:pt x="1925955" y="5358765"/>
                  <a:pt x="2316480" y="5748338"/>
                  <a:pt x="2798445" y="5751194"/>
                </a:cubicBezTo>
                <a:cubicBezTo>
                  <a:pt x="3150870" y="5751194"/>
                  <a:pt x="3453765" y="5535930"/>
                  <a:pt x="3591877" y="5233034"/>
                </a:cubicBezTo>
                <a:cubicBezTo>
                  <a:pt x="3749992" y="5799772"/>
                  <a:pt x="4266247" y="6220778"/>
                  <a:pt x="4881562" y="6220778"/>
                </a:cubicBezTo>
                <a:cubicBezTo>
                  <a:pt x="5493068" y="6220778"/>
                  <a:pt x="6007418" y="5804534"/>
                  <a:pt x="6168390" y="5242560"/>
                </a:cubicBezTo>
                <a:cubicBezTo>
                  <a:pt x="6308407" y="5540692"/>
                  <a:pt x="6607492" y="5751194"/>
                  <a:pt x="6955154" y="5751194"/>
                </a:cubicBezTo>
                <a:cubicBezTo>
                  <a:pt x="7437119" y="5749290"/>
                  <a:pt x="7827644" y="5358765"/>
                  <a:pt x="7829549" y="4876800"/>
                </a:cubicBezTo>
                <a:cubicBezTo>
                  <a:pt x="7827644" y="4394835"/>
                  <a:pt x="7437119" y="4004310"/>
                  <a:pt x="6955154" y="4002405"/>
                </a:cubicBezTo>
                <a:cubicBezTo>
                  <a:pt x="6606540" y="4002405"/>
                  <a:pt x="6308407" y="4213860"/>
                  <a:pt x="6168390" y="4511040"/>
                </a:cubicBezTo>
                <a:cubicBezTo>
                  <a:pt x="6007418" y="3949065"/>
                  <a:pt x="5493068" y="3531870"/>
                  <a:pt x="4881562" y="3532823"/>
                </a:cubicBezTo>
                <a:close/>
                <a:moveTo>
                  <a:pt x="4881562" y="4045268"/>
                </a:moveTo>
                <a:cubicBezTo>
                  <a:pt x="5343525" y="4045268"/>
                  <a:pt x="5713094" y="4414838"/>
                  <a:pt x="5713094" y="4876800"/>
                </a:cubicBezTo>
                <a:quadBezTo>
                  <a:pt x="5343525" y="5708332"/>
                  <a:pt x="4881562" y="5708332"/>
                </a:quadBezTo>
                <a:cubicBezTo>
                  <a:pt x="4424362" y="5710238"/>
                  <a:pt x="4052888" y="5341620"/>
                  <a:pt x="4050982" y="4884420"/>
                </a:cubicBezTo>
                <a:lnTo>
                  <a:pt x="4050982" y="4876800"/>
                </a:lnTo>
                <a:cubicBezTo>
                  <a:pt x="4050030" y="4414838"/>
                  <a:pt x="4419600" y="4045268"/>
                  <a:pt x="4881562" y="4045268"/>
                </a:cubicBezTo>
                <a:close/>
                <a:moveTo>
                  <a:pt x="2798445" y="4515802"/>
                </a:moveTo>
                <a:cubicBezTo>
                  <a:pt x="3000375" y="4515802"/>
                  <a:pt x="3159442" y="4674870"/>
                  <a:pt x="3159442" y="4876800"/>
                </a:cubicBezTo>
                <a:cubicBezTo>
                  <a:pt x="3159442" y="5079682"/>
                  <a:pt x="3001328" y="5237798"/>
                  <a:pt x="2798445" y="5237798"/>
                </a:cubicBezTo>
                <a:cubicBezTo>
                  <a:pt x="2601278" y="5239703"/>
                  <a:pt x="2439352" y="5081588"/>
                  <a:pt x="2437447" y="4884420"/>
                </a:cubicBezTo>
                <a:lnTo>
                  <a:pt x="2437447" y="4876800"/>
                </a:lnTo>
                <a:cubicBezTo>
                  <a:pt x="2437447" y="4673918"/>
                  <a:pt x="2595562" y="4515803"/>
                  <a:pt x="2798445" y="4515803"/>
                </a:cubicBezTo>
                <a:close/>
                <a:moveTo>
                  <a:pt x="6955154" y="4515803"/>
                </a:moveTo>
                <a:cubicBezTo>
                  <a:pt x="7158036" y="4515803"/>
                  <a:pt x="7316152" y="4674871"/>
                  <a:pt x="7316152" y="4876800"/>
                </a:cubicBezTo>
                <a:cubicBezTo>
                  <a:pt x="7316152" y="5079682"/>
                  <a:pt x="7157085" y="5237798"/>
                  <a:pt x="6955154" y="5237798"/>
                </a:cubicBezTo>
                <a:cubicBezTo>
                  <a:pt x="6757986" y="5239704"/>
                  <a:pt x="6596062" y="5081588"/>
                  <a:pt x="6594156" y="4884421"/>
                </a:cubicBezTo>
                <a:lnTo>
                  <a:pt x="6594156" y="4876801"/>
                </a:lnTo>
                <a:cubicBezTo>
                  <a:pt x="6594156" y="4673919"/>
                  <a:pt x="6753224" y="4515804"/>
                  <a:pt x="6955154" y="451580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装饰3-子标题3-[3]【1】"/>
          <p:cNvSpPr/>
          <p:nvPr>
            <p:custDataLst>
              <p:tags r:id="rId23"/>
            </p:custDataLst>
          </p:nvPr>
        </p:nvSpPr>
        <p:spPr>
          <a:xfrm>
            <a:off x="9543853" y="2461881"/>
            <a:ext cx="967119" cy="967119"/>
          </a:xfrm>
          <a:custGeom>
            <a:avLst/>
            <a:gdLst/>
            <a:ahLst/>
            <a:cxnLst/>
            <a:rect l="l" t="t" r="r" b="b"/>
            <a:pathLst>
              <a:path w="967119" h="967119">
                <a:moveTo>
                  <a:pt x="0" y="483556"/>
                </a:moveTo>
                <a:cubicBezTo>
                  <a:pt x="0" y="216495"/>
                  <a:pt x="216495" y="0"/>
                  <a:pt x="483556" y="0"/>
                </a:cubicBezTo>
                <a:cubicBezTo>
                  <a:pt x="611805" y="-2"/>
                  <a:pt x="734801" y="50942"/>
                  <a:pt x="825488" y="141627"/>
                </a:cubicBezTo>
                <a:cubicBezTo>
                  <a:pt x="916174" y="232312"/>
                  <a:pt x="967121" y="355307"/>
                  <a:pt x="967121" y="483556"/>
                </a:cubicBezTo>
                <a:cubicBezTo>
                  <a:pt x="967123" y="611806"/>
                  <a:pt x="916177" y="734804"/>
                  <a:pt x="825491" y="825491"/>
                </a:cubicBezTo>
                <a:cubicBezTo>
                  <a:pt x="734804" y="916177"/>
                  <a:pt x="611806" y="967123"/>
                  <a:pt x="483556" y="967121"/>
                </a:cubicBezTo>
                <a:cubicBezTo>
                  <a:pt x="355307" y="967121"/>
                  <a:pt x="232312" y="916174"/>
                  <a:pt x="141627" y="825488"/>
                </a:cubicBezTo>
                <a:cubicBezTo>
                  <a:pt x="50942" y="734801"/>
                  <a:pt x="-2" y="611805"/>
                  <a:pt x="0" y="483556"/>
                </a:cubicBezTo>
                <a:close/>
              </a:path>
            </a:pathLst>
          </a:custGeom>
          <a:solidFill>
            <a:schemeClr val="accent1"/>
          </a:solidFill>
          <a:effectLst>
            <a:outerShdw blurRad="50800" dist="50800" dir="2700000" algn="tl">
              <a:schemeClr val="accent1">
                <a:lumMod val="50000"/>
                <a:lumOff val="0"/>
                <a:alpha val="50000"/>
              </a:schemeClr>
            </a:outerShdw>
          </a:effectLst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icon3-[3]【1】"/>
          <p:cNvSpPr/>
          <p:nvPr>
            <p:custDataLst>
              <p:tags r:id="rId24"/>
            </p:custDataLst>
          </p:nvPr>
        </p:nvSpPr>
        <p:spPr>
          <a:xfrm>
            <a:off x="9777513" y="2694355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876800" h="4876800">
                <a:moveTo>
                  <a:pt x="3543300" y="2876550"/>
                </a:moveTo>
                <a:lnTo>
                  <a:pt x="3543300" y="4876800"/>
                </a:lnTo>
                <a:lnTo>
                  <a:pt x="4876800" y="4876800"/>
                </a:lnTo>
                <a:lnTo>
                  <a:pt x="4876800" y="3524250"/>
                </a:lnTo>
                <a:lnTo>
                  <a:pt x="4876800" y="2876550"/>
                </a:lnTo>
                <a:lnTo>
                  <a:pt x="3543300" y="2876550"/>
                </a:lnTo>
                <a:close/>
                <a:moveTo>
                  <a:pt x="4067175" y="4400550"/>
                </a:moveTo>
                <a:cubicBezTo>
                  <a:pt x="3988270" y="4400550"/>
                  <a:pt x="3924300" y="4336580"/>
                  <a:pt x="3924300" y="4257675"/>
                </a:cubicBezTo>
                <a:quadBezTo>
                  <a:pt x="3988270" y="4114800"/>
                  <a:pt x="4067175" y="4114800"/>
                </a:quadBezTo>
                <a:quadBezTo>
                  <a:pt x="4210050" y="4178770"/>
                  <a:pt x="4210050" y="4257675"/>
                </a:quadBezTo>
                <a:quadBezTo>
                  <a:pt x="4146080" y="4400550"/>
                  <a:pt x="4067175" y="4400550"/>
                </a:quadBezTo>
                <a:close/>
              </a:path>
              <a:path w="4876800" h="4876800">
                <a:moveTo>
                  <a:pt x="2438400" y="1447800"/>
                </a:moveTo>
                <a:lnTo>
                  <a:pt x="2438400" y="4876800"/>
                </a:lnTo>
                <a:lnTo>
                  <a:pt x="3257550" y="4876800"/>
                </a:lnTo>
                <a:lnTo>
                  <a:pt x="3257550" y="2590800"/>
                </a:lnTo>
                <a:lnTo>
                  <a:pt x="4876800" y="2590800"/>
                </a:lnTo>
                <a:lnTo>
                  <a:pt x="4876800" y="1447800"/>
                </a:lnTo>
                <a:lnTo>
                  <a:pt x="2438400" y="1447800"/>
                </a:lnTo>
                <a:close/>
                <a:moveTo>
                  <a:pt x="2863996" y="2721102"/>
                </a:moveTo>
                <a:lnTo>
                  <a:pt x="2751220" y="2793492"/>
                </a:lnTo>
                <a:lnTo>
                  <a:pt x="2863996" y="2859786"/>
                </a:lnTo>
                <a:lnTo>
                  <a:pt x="2863996" y="3021330"/>
                </a:lnTo>
                <a:lnTo>
                  <a:pt x="2540908" y="2830830"/>
                </a:lnTo>
                <a:lnTo>
                  <a:pt x="2540908" y="2763774"/>
                </a:lnTo>
                <a:lnTo>
                  <a:pt x="2863996" y="2567178"/>
                </a:lnTo>
                <a:lnTo>
                  <a:pt x="2863996" y="2721102"/>
                </a:lnTo>
                <a:close/>
                <a:moveTo>
                  <a:pt x="3104778" y="2990850"/>
                </a:moveTo>
                <a:lnTo>
                  <a:pt x="2959998" y="2990850"/>
                </a:lnTo>
                <a:lnTo>
                  <a:pt x="2959998" y="2850642"/>
                </a:lnTo>
                <a:lnTo>
                  <a:pt x="3104778" y="2850642"/>
                </a:lnTo>
                <a:lnTo>
                  <a:pt x="3104778" y="2990850"/>
                </a:lnTo>
                <a:close/>
                <a:moveTo>
                  <a:pt x="3104778" y="2762250"/>
                </a:moveTo>
                <a:lnTo>
                  <a:pt x="2959998" y="2762250"/>
                </a:lnTo>
                <a:lnTo>
                  <a:pt x="2959998" y="2444496"/>
                </a:lnTo>
                <a:lnTo>
                  <a:pt x="3104778" y="2444496"/>
                </a:lnTo>
                <a:lnTo>
                  <a:pt x="3104778" y="2762250"/>
                </a:lnTo>
                <a:close/>
                <a:moveTo>
                  <a:pt x="3514725" y="1924050"/>
                </a:moveTo>
                <a:cubicBezTo>
                  <a:pt x="3435820" y="1924050"/>
                  <a:pt x="3371850" y="1860080"/>
                  <a:pt x="3371850" y="1781175"/>
                </a:cubicBezTo>
                <a:quadBezTo>
                  <a:pt x="3435820" y="1638300"/>
                  <a:pt x="3514725" y="1638300"/>
                </a:quadBezTo>
                <a:quadBezTo>
                  <a:pt x="3657600" y="1702270"/>
                  <a:pt x="3657600" y="1781175"/>
                </a:quadBezTo>
                <a:quadBezTo>
                  <a:pt x="3593630" y="1924050"/>
                  <a:pt x="3514725" y="1924050"/>
                </a:quadBezTo>
                <a:close/>
              </a:path>
              <a:path w="4876800" h="4876800">
                <a:moveTo>
                  <a:pt x="0" y="0"/>
                </a:moveTo>
                <a:lnTo>
                  <a:pt x="0" y="2476500"/>
                </a:lnTo>
                <a:lnTo>
                  <a:pt x="2152650" y="2476500"/>
                </a:lnTo>
                <a:lnTo>
                  <a:pt x="2152650" y="1162050"/>
                </a:lnTo>
                <a:lnTo>
                  <a:pt x="4876800" y="1162050"/>
                </a:lnTo>
                <a:lnTo>
                  <a:pt x="4876800" y="0"/>
                </a:lnTo>
                <a:lnTo>
                  <a:pt x="0" y="0"/>
                </a:lnTo>
                <a:close/>
                <a:moveTo>
                  <a:pt x="1236135" y="1303972"/>
                </a:moveTo>
                <a:lnTo>
                  <a:pt x="1024680" y="1439704"/>
                </a:lnTo>
                <a:lnTo>
                  <a:pt x="1236135" y="1564005"/>
                </a:lnTo>
                <a:lnTo>
                  <a:pt x="1236135" y="1866900"/>
                </a:lnTo>
                <a:lnTo>
                  <a:pt x="630345" y="1509712"/>
                </a:lnTo>
                <a:lnTo>
                  <a:pt x="630345" y="1383983"/>
                </a:lnTo>
                <a:lnTo>
                  <a:pt x="1236135" y="1015365"/>
                </a:lnTo>
                <a:lnTo>
                  <a:pt x="1236135" y="1303972"/>
                </a:lnTo>
                <a:close/>
                <a:moveTo>
                  <a:pt x="1687611" y="1809750"/>
                </a:moveTo>
                <a:lnTo>
                  <a:pt x="1416148" y="1809750"/>
                </a:lnTo>
                <a:lnTo>
                  <a:pt x="1416148" y="1546860"/>
                </a:lnTo>
                <a:lnTo>
                  <a:pt x="1687611" y="1546860"/>
                </a:lnTo>
                <a:lnTo>
                  <a:pt x="1687611" y="1809750"/>
                </a:lnTo>
                <a:close/>
                <a:moveTo>
                  <a:pt x="1687611" y="1381125"/>
                </a:moveTo>
                <a:lnTo>
                  <a:pt x="1416148" y="1381125"/>
                </a:lnTo>
                <a:lnTo>
                  <a:pt x="1416148" y="785336"/>
                </a:lnTo>
                <a:lnTo>
                  <a:pt x="1687611" y="785336"/>
                </a:lnTo>
                <a:lnTo>
                  <a:pt x="1687611" y="1381125"/>
                </a:lnTo>
                <a:close/>
                <a:moveTo>
                  <a:pt x="2077641" y="1809750"/>
                </a:moveTo>
                <a:lnTo>
                  <a:pt x="1857613" y="1809750"/>
                </a:lnTo>
                <a:lnTo>
                  <a:pt x="1857613" y="1546860"/>
                </a:lnTo>
                <a:lnTo>
                  <a:pt x="2077641" y="1546860"/>
                </a:lnTo>
                <a:lnTo>
                  <a:pt x="2077641" y="1809750"/>
                </a:lnTo>
                <a:close/>
              </a:path>
            </a:pathLst>
          </a:custGeom>
          <a:solidFill>
            <a:schemeClr val="tx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9"/>
          <p:cNvSpPr/>
          <p:nvPr>
            <p:custDataLst>
              <p:tags r:id="rId3"/>
            </p:custDataLst>
          </p:nvPr>
        </p:nvSpPr>
        <p:spPr>
          <a:xfrm>
            <a:off x="1524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19"/>
          <p:cNvSpPr/>
          <p:nvPr>
            <p:custDataLst>
              <p:tags r:id="rId4"/>
            </p:custDataLst>
          </p:nvPr>
        </p:nvSpPr>
        <p:spPr>
          <a:xfrm>
            <a:off x="6208244" y="5575551"/>
            <a:ext cx="2016928" cy="481326"/>
          </a:xfrm>
          <a:custGeom>
            <a:avLst/>
            <a:gdLst/>
            <a:ahLst/>
            <a:cxnLst/>
            <a:rect l="l" t="t" r="r" b="b"/>
            <a:pathLst>
              <a:path w="2016928" h="481326">
                <a:moveTo>
                  <a:pt x="0" y="240659"/>
                </a:moveTo>
                <a:cubicBezTo>
                  <a:pt x="0" y="107836"/>
                  <a:pt x="107836" y="0"/>
                  <a:pt x="240659" y="0"/>
                </a:cubicBezTo>
                <a:lnTo>
                  <a:pt x="1776270" y="0"/>
                </a:lnTo>
                <a:cubicBezTo>
                  <a:pt x="1909182" y="1"/>
                  <a:pt x="2016928" y="107747"/>
                  <a:pt x="2016928" y="240659"/>
                </a:cubicBezTo>
                <a:lnTo>
                  <a:pt x="2016928" y="240659"/>
                </a:lnTo>
                <a:cubicBezTo>
                  <a:pt x="2016930" y="304487"/>
                  <a:pt x="1991576" y="365702"/>
                  <a:pt x="1946444" y="410836"/>
                </a:cubicBezTo>
                <a:cubicBezTo>
                  <a:pt x="1901312" y="455970"/>
                  <a:pt x="1840098" y="481327"/>
                  <a:pt x="1776270" y="481327"/>
                </a:cubicBezTo>
                <a:lnTo>
                  <a:pt x="240659" y="481327"/>
                </a:lnTo>
                <a:cubicBezTo>
                  <a:pt x="176831" y="481327"/>
                  <a:pt x="115617" y="455971"/>
                  <a:pt x="70484" y="410836"/>
                </a:cubicBezTo>
                <a:cubicBezTo>
                  <a:pt x="25352" y="365702"/>
                  <a:pt x="-2" y="304487"/>
                  <a:pt x="0" y="240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20"/>
          <p:cNvSpPr/>
          <p:nvPr>
            <p:custDataLst>
              <p:tags r:id="rId5"/>
            </p:custDataLst>
          </p:nvPr>
        </p:nvSpPr>
        <p:spPr>
          <a:xfrm>
            <a:off x="3981861" y="5581720"/>
            <a:ext cx="2016928" cy="481326"/>
          </a:xfrm>
          <a:custGeom>
            <a:avLst/>
            <a:gdLst/>
            <a:ahLst/>
            <a:cxnLst/>
            <a:rect l="l" t="t" r="r" b="b"/>
            <a:pathLst>
              <a:path w="2016928" h="481326">
                <a:moveTo>
                  <a:pt x="0" y="240659"/>
                </a:moveTo>
                <a:cubicBezTo>
                  <a:pt x="0" y="107836"/>
                  <a:pt x="107836" y="0"/>
                  <a:pt x="240659" y="0"/>
                </a:cubicBezTo>
                <a:lnTo>
                  <a:pt x="1776270" y="0"/>
                </a:lnTo>
                <a:cubicBezTo>
                  <a:pt x="1909182" y="1"/>
                  <a:pt x="2016928" y="107747"/>
                  <a:pt x="2016928" y="240659"/>
                </a:cubicBezTo>
                <a:lnTo>
                  <a:pt x="2016928" y="240659"/>
                </a:lnTo>
                <a:cubicBezTo>
                  <a:pt x="2016930" y="304487"/>
                  <a:pt x="1991576" y="365702"/>
                  <a:pt x="1946444" y="410836"/>
                </a:cubicBezTo>
                <a:cubicBezTo>
                  <a:pt x="1901312" y="455970"/>
                  <a:pt x="1840098" y="481327"/>
                  <a:pt x="1776270" y="481327"/>
                </a:cubicBezTo>
                <a:lnTo>
                  <a:pt x="240659" y="481327"/>
                </a:lnTo>
                <a:cubicBezTo>
                  <a:pt x="176831" y="481327"/>
                  <a:pt x="115617" y="455971"/>
                  <a:pt x="70484" y="410836"/>
                </a:cubicBezTo>
                <a:cubicBezTo>
                  <a:pt x="25352" y="365702"/>
                  <a:pt x="-2" y="304487"/>
                  <a:pt x="0" y="240659"/>
                </a:cubicBezTo>
                <a:close/>
              </a:path>
            </a:pathLst>
          </a:cu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汇报人"/>
          <p:cNvSpPr txBox="1"/>
          <p:nvPr>
            <p:custDataLst>
              <p:tags r:id="rId6"/>
            </p:custDataLst>
          </p:nvPr>
        </p:nvSpPr>
        <p:spPr>
          <a:xfrm>
            <a:off x="4191316" y="5669224"/>
            <a:ext cx="1598018" cy="293979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accent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BusterPanda7679</a:t>
            </a:r>
            <a:endParaRPr lang="zh-CN" altLang="en-US" sz="1400" b="0" i="0" u="none" strike="noStrike">
              <a:solidFill>
                <a:schemeClr val="accent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日期"/>
          <p:cNvSpPr txBox="1"/>
          <p:nvPr>
            <p:custDataLst>
              <p:tags r:id="rId7"/>
            </p:custDataLst>
          </p:nvPr>
        </p:nvSpPr>
        <p:spPr>
          <a:xfrm>
            <a:off x="6356167" y="5665479"/>
            <a:ext cx="1689904" cy="297724"/>
          </a:xfrm>
          <a:prstGeom prst="rect">
            <a:avLst/>
          </a:prstGeom>
        </p:spPr>
        <p:txBody>
          <a:bodyPr spcFirstLastPara="0" wrap="square" lIns="0" tIns="0" rIns="0" bIns="0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400" b="0" i="0" u="none" strike="noStrike">
                <a:solidFill>
                  <a:schemeClr val="bg1">
                    <a:alpha val="100000"/>
                  </a:schemeClr>
                </a:solidFill>
                <a:latin typeface="幼圆" panose="02010509060101010101" charset="-122"/>
                <a:ea typeface="幼圆" panose="02010509060101010101" charset="-122"/>
              </a:rPr>
              <a:t>2026.01.16</a:t>
            </a:r>
            <a:endParaRPr lang="zh-CN" altLang="en-US" sz="1400" b="0" i="0" u="none" strike="noStrike">
              <a:solidFill>
                <a:schemeClr val="bg1">
                  <a:alpha val="100000"/>
                </a:schemeClr>
              </a:solidFill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8" name="副标题-翻译"/>
          <p:cNvSpPr txBox="1"/>
          <p:nvPr>
            <p:custDataLst>
              <p:tags r:id="rId8"/>
            </p:custDataLst>
          </p:nvPr>
        </p:nvSpPr>
        <p:spPr>
          <a:xfrm>
            <a:off x="2844061" y="4443175"/>
            <a:ext cx="6708140" cy="875021"/>
          </a:xfrm>
          <a:prstGeom prst="rect">
            <a:avLst/>
          </a:prstGeom>
        </p:spPr>
        <p:txBody>
          <a:bodyPr spcFirstLastPara="0" wrap="square" lIns="0" tIns="0" rIns="0" bIns="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6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Thanks for watching</a:t>
            </a:r>
            <a:endParaRPr lang="zh-CN" altLang="en-US" sz="16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  <p:sp>
        <p:nvSpPr>
          <p:cNvPr id="9" name="标题"/>
          <p:cNvSpPr txBox="1"/>
          <p:nvPr>
            <p:custDataLst>
              <p:tags r:id="rId9"/>
            </p:custDataLst>
          </p:nvPr>
        </p:nvSpPr>
        <p:spPr>
          <a:xfrm>
            <a:off x="2844061" y="2214238"/>
            <a:ext cx="6708140" cy="2064277"/>
          </a:xfrm>
          <a:prstGeom prst="rect">
            <a:avLst/>
          </a:prstGeom>
        </p:spPr>
        <p:txBody>
          <a:bodyPr spcFirstLastPara="0" wrap="square" lIns="0" tIns="0" rIns="0" bIns="0" rtlCol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b="0" i="0" u="none" strike="noStrike">
                <a:solidFill>
                  <a:schemeClr val="tx1">
                    <a:alpha val="100000"/>
                  </a:schemeClr>
                </a:solidFill>
                <a:latin typeface="JiangchengRhythmBlack"/>
                <a:ea typeface="JiangchengRhythmBlack"/>
              </a:rPr>
              <a:t>谢谢观看</a:t>
            </a:r>
            <a:endParaRPr lang="zh-CN" altLang="en-US" sz="7200" b="0" i="0" u="none" strike="noStrike">
              <a:solidFill>
                <a:schemeClr val="tx1">
                  <a:alpha val="100000"/>
                </a:schemeClr>
              </a:solidFill>
              <a:latin typeface="JiangchengRhythmBlack"/>
              <a:ea typeface="JiangchengRhythmBlack"/>
            </a:endParaRPr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YOO_CHATSHAPE_TYPE" val="YOO_CHATSHAPE_IMAGE"/>
  <p:tag name="TAG_CONTENT_SUBINDEX" val="18"/>
</p:tagLst>
</file>

<file path=ppt/tags/tag2.xml><?xml version="1.0" encoding="utf-8"?>
<p:tagLst xmlns:p="http://schemas.openxmlformats.org/presentationml/2006/main">
  <p:tag name="YOO_CHATSHAPE_TYPE" val="YOO_CHATSHAPE_DECORATION"/>
</p:tagLst>
</file>

<file path=ppt/tags/tag3.xml><?xml version="1.0" encoding="utf-8"?>
<p:tagLst xmlns:p="http://schemas.openxmlformats.org/presentationml/2006/main">
  <p:tag name="YOO_CHATSHAPE_TYPE" val="YOO_CHATSHAPE_DECORATION"/>
</p:tagLst>
</file>

<file path=ppt/tags/tag4.xml><?xml version="1.0" encoding="utf-8"?>
<p:tagLst xmlns:p="http://schemas.openxmlformats.org/presentationml/2006/main">
  <p:tag name="YOO_CHATSHAPE_TYPE" val="YOO_CHATSHAPE_DECORATION"/>
</p:tagLst>
</file>

<file path=ppt/tags/tag5.xml><?xml version="1.0" encoding="utf-8"?>
<p:tagLst xmlns:p="http://schemas.openxmlformats.org/presentationml/2006/main">
  <p:tag name="YOO_CHATSHAPE_TYPE" val="YOO_CHATSHAPE_AUTHOR"/>
</p:tagLst>
</file>

<file path=ppt/tags/tag6.xml><?xml version="1.0" encoding="utf-8"?>
<p:tagLst xmlns:p="http://schemas.openxmlformats.org/presentationml/2006/main">
  <p:tag name="YOO_CHATSHAPE_TYPE" val="YOO_CHATSHAPE_DATE"/>
</p:tagLst>
</file>

<file path=ppt/tags/tag7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8.xml><?xml version="1.0" encoding="utf-8"?>
<p:tagLst xmlns:p="http://schemas.openxmlformats.org/presentationml/2006/main">
  <p:tag name="YOO_CHATSHAPE_TYPE" val="YOO_CHATSHAPE_TITLE"/>
</p:tagLst>
</file>

<file path=ppt/tags/tag9.xml><?xml version="1.0" encoding="utf-8"?>
<p:tagLst xmlns:p="http://schemas.openxmlformats.org/presentationml/2006/main">
  <p:tag name="TAG_CHATPPT" val="ChatPPT"/>
  <p:tag name="YOO_CHATPAGE_TYPE" val="TAG_CHATPAGE_COVER"/>
</p:tagLst>
</file>

<file path=ppt/tags/tag10.xml><?xml version="1.0" encoding="utf-8"?>
<p:tagLst xmlns:p="http://schemas.openxmlformats.org/presentationml/2006/main">
  <p:tag name="TAG_CONTENT_SUBINDEX" val="72"/>
  <p:tag name="YOO_CHATSHAPE_TYPE" val="YOO_CHATSHAPE_DECORATION"/>
</p:tagLst>
</file>

<file path=ppt/tags/tag11.xml><?xml version="1.0" encoding="utf-8"?>
<p:tagLst xmlns:p="http://schemas.openxmlformats.org/presentationml/2006/main">
  <p:tag name="YOO_CHATSHAPE_TYPE" val="YOO_CHATSHAPE_TITLE"/>
  <p:tag name="TAG_CONTENT_SUBINDEX" val="78"/>
</p:tagLst>
</file>

<file path=ppt/tags/tag12.xml><?xml version="1.0" encoding="utf-8"?>
<p:tagLst xmlns:p="http://schemas.openxmlformats.org/presentationml/2006/main">
  <p:tag name="TAG_CONTENT_GROUPINDEX" val="1"/>
  <p:tag name="TAG_CONTENT_GROUPCOUNT" val="6"/>
  <p:tag name="TAG_CONTENT_DIAGRAM_INDEX" val="5fbad970444b4a4dbc61db213c6c0da7"/>
  <p:tag name="TAG_CONTENT_SUBINDEX" val="1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13.xml><?xml version="1.0" encoding="utf-8"?>
<p:tagLst xmlns:p="http://schemas.openxmlformats.org/presentationml/2006/main">
  <p:tag name="TAG_CONTENT_GROUPINDEX" val="1"/>
  <p:tag name="TAG_CONTENT_GROUPCOUNT" val="6"/>
  <p:tag name="TAG_CONTENT_DIAGRAM_INDEX" val="5fbad970444b4a4dbc61db213c6c0da7"/>
  <p:tag name="TAG_CONTENT_SUBINDEX" val="1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14.xml><?xml version="1.0" encoding="utf-8"?>
<p:tagLst xmlns:p="http://schemas.openxmlformats.org/presentationml/2006/main">
  <p:tag name="TAG_CONTENT_GROUPINDEX" val="1"/>
  <p:tag name="TAG_CONTENT_GROUPCOUNT" val="6"/>
  <p:tag name="TAG_CONTENT_DIAGRAM_INDEX" val="5fbad970444b4a4dbc61db213c6c0da7"/>
  <p:tag name="TAG_CONTENT_SUBINDEX" val="1"/>
  <p:tag name="YOO_CHATSHAPE_TYPE" val="YOO_CHATSHAPE_NUM"/>
  <p:tag name="KSO_WM_DIAGRAM_VIRTUALLY_FRAME" val="{&quot;height&quot;:306.944251968504,&quot;left&quot;:256.80000000000007,&quot;top&quot;:126.49614173228346,&quot;width&quot;:492.89677165354334}"/>
</p:tagLst>
</file>

<file path=ppt/tags/tag15.xml><?xml version="1.0" encoding="utf-8"?>
<p:tagLst xmlns:p="http://schemas.openxmlformats.org/presentationml/2006/main">
  <p:tag name="TAG_CONTENT_GROUPINDEX" val="1"/>
  <p:tag name="TAG_CONTENT_GROUPCOUNT" val="6"/>
  <p:tag name="TAG_CONTENT_DIAGRAM_INDEX" val="5fbad970444b4a4dbc61db213c6c0da7"/>
  <p:tag name="TAG_CONTENT_SUBINDEX" val="1"/>
  <p:tag name="YOO_CHATSHAPE_TYPE" val="YOO_CHATSHAPE_CATALOG"/>
  <p:tag name="KSO_WM_DIAGRAM_VIRTUALLY_FRAME" val="{&quot;height&quot;:306.944251968504,&quot;left&quot;:256.80000000000007,&quot;top&quot;:126.49614173228346,&quot;width&quot;:492.89677165354334}"/>
</p:tagLst>
</file>

<file path=ppt/tags/tag16.xml><?xml version="1.0" encoding="utf-8"?>
<p:tagLst xmlns:p="http://schemas.openxmlformats.org/presentationml/2006/main">
  <p:tag name="TAG_CONTENT_GROUPINDEX" val="2"/>
  <p:tag name="TAG_CONTENT_GROUPCOUNT" val="6"/>
  <p:tag name="TAG_CONTENT_DIAGRAM_INDEX" val="5fbad970444b4a4dbc61db213c6c0da7"/>
  <p:tag name="TAG_CONTENT_SUBINDEX" val="2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17.xml><?xml version="1.0" encoding="utf-8"?>
<p:tagLst xmlns:p="http://schemas.openxmlformats.org/presentationml/2006/main">
  <p:tag name="TAG_CONTENT_GROUPINDEX" val="2"/>
  <p:tag name="TAG_CONTENT_GROUPCOUNT" val="6"/>
  <p:tag name="TAG_CONTENT_DIAGRAM_INDEX" val="5fbad970444b4a4dbc61db213c6c0da7"/>
  <p:tag name="TAG_CONTENT_SUBINDEX" val="2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18.xml><?xml version="1.0" encoding="utf-8"?>
<p:tagLst xmlns:p="http://schemas.openxmlformats.org/presentationml/2006/main">
  <p:tag name="TAG_CONTENT_GROUPINDEX" val="2"/>
  <p:tag name="TAG_CONTENT_GROUPCOUNT" val="6"/>
  <p:tag name="TAG_CONTENT_DIAGRAM_INDEX" val="5fbad970444b4a4dbc61db213c6c0da7"/>
  <p:tag name="TAG_CONTENT_SUBINDEX" val="2"/>
  <p:tag name="YOO_CHATSHAPE_TYPE" val="YOO_CHATSHAPE_NUM"/>
  <p:tag name="KSO_WM_DIAGRAM_VIRTUALLY_FRAME" val="{&quot;height&quot;:306.944251968504,&quot;left&quot;:256.80000000000007,&quot;top&quot;:126.49614173228346,&quot;width&quot;:492.89677165354334}"/>
</p:tagLst>
</file>

<file path=ppt/tags/tag19.xml><?xml version="1.0" encoding="utf-8"?>
<p:tagLst xmlns:p="http://schemas.openxmlformats.org/presentationml/2006/main">
  <p:tag name="TAG_CONTENT_GROUPINDEX" val="2"/>
  <p:tag name="TAG_CONTENT_GROUPCOUNT" val="6"/>
  <p:tag name="TAG_CONTENT_DIAGRAM_INDEX" val="5fbad970444b4a4dbc61db213c6c0da7"/>
  <p:tag name="TAG_CONTENT_SUBINDEX" val="2"/>
  <p:tag name="YOO_CHATSHAPE_TYPE" val="YOO_CHATSHAPE_CATALOG"/>
  <p:tag name="KSO_WM_DIAGRAM_VIRTUALLY_FRAME" val="{&quot;height&quot;:306.944251968504,&quot;left&quot;:256.80000000000007,&quot;top&quot;:126.49614173228346,&quot;width&quot;:492.89677165354334}"/>
</p:tagLst>
</file>

<file path=ppt/tags/tag20.xml><?xml version="1.0" encoding="utf-8"?>
<p:tagLst xmlns:p="http://schemas.openxmlformats.org/presentationml/2006/main">
  <p:tag name="TAG_CONTENT_GROUPINDEX" val="3"/>
  <p:tag name="TAG_CONTENT_GROUPCOUNT" val="6"/>
  <p:tag name="TAG_CONTENT_DIAGRAM_INDEX" val="5fbad970444b4a4dbc61db213c6c0da7"/>
  <p:tag name="TAG_CONTENT_SUBINDEX" val="3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21.xml><?xml version="1.0" encoding="utf-8"?>
<p:tagLst xmlns:p="http://schemas.openxmlformats.org/presentationml/2006/main">
  <p:tag name="TAG_CONTENT_GROUPINDEX" val="3"/>
  <p:tag name="TAG_CONTENT_GROUPCOUNT" val="6"/>
  <p:tag name="TAG_CONTENT_DIAGRAM_INDEX" val="5fbad970444b4a4dbc61db213c6c0da7"/>
  <p:tag name="TAG_CONTENT_SUBINDEX" val="3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22.xml><?xml version="1.0" encoding="utf-8"?>
<p:tagLst xmlns:p="http://schemas.openxmlformats.org/presentationml/2006/main">
  <p:tag name="TAG_CONTENT_GROUPINDEX" val="3"/>
  <p:tag name="TAG_CONTENT_GROUPCOUNT" val="6"/>
  <p:tag name="TAG_CONTENT_DIAGRAM_INDEX" val="5fbad970444b4a4dbc61db213c6c0da7"/>
  <p:tag name="TAG_CONTENT_SUBINDEX" val="3"/>
  <p:tag name="YOO_CHATSHAPE_TYPE" val="YOO_CHATSHAPE_NUM"/>
  <p:tag name="KSO_WM_DIAGRAM_VIRTUALLY_FRAME" val="{&quot;height&quot;:306.944251968504,&quot;left&quot;:256.80000000000007,&quot;top&quot;:126.49614173228346,&quot;width&quot;:492.89677165354334}"/>
</p:tagLst>
</file>

<file path=ppt/tags/tag23.xml><?xml version="1.0" encoding="utf-8"?>
<p:tagLst xmlns:p="http://schemas.openxmlformats.org/presentationml/2006/main">
  <p:tag name="TAG_CONTENT_GROUPINDEX" val="3"/>
  <p:tag name="TAG_CONTENT_GROUPCOUNT" val="6"/>
  <p:tag name="TAG_CONTENT_DIAGRAM_INDEX" val="5fbad970444b4a4dbc61db213c6c0da7"/>
  <p:tag name="TAG_CONTENT_SUBINDEX" val="3"/>
  <p:tag name="YOO_CHATSHAPE_TYPE" val="YOO_CHATSHAPE_CATALOG"/>
  <p:tag name="KSO_WM_DIAGRAM_VIRTUALLY_FRAME" val="{&quot;height&quot;:306.944251968504,&quot;left&quot;:256.80000000000007,&quot;top&quot;:126.49614173228346,&quot;width&quot;:492.89677165354334}"/>
</p:tagLst>
</file>

<file path=ppt/tags/tag24.xml><?xml version="1.0" encoding="utf-8"?>
<p:tagLst xmlns:p="http://schemas.openxmlformats.org/presentationml/2006/main">
  <p:tag name="TAG_CONTENT_GROUPINDEX" val="5"/>
  <p:tag name="TAG_CONTENT_GROUPCOUNT" val="6"/>
  <p:tag name="TAG_CONTENT_DIAGRAM_INDEX" val="5fbad970444b4a4dbc61db213c6c0da7"/>
  <p:tag name="TAG_CONTENT_SUBINDEX" val="5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25.xml><?xml version="1.0" encoding="utf-8"?>
<p:tagLst xmlns:p="http://schemas.openxmlformats.org/presentationml/2006/main">
  <p:tag name="TAG_CONTENT_GROUPINDEX" val="5"/>
  <p:tag name="TAG_CONTENT_GROUPCOUNT" val="6"/>
  <p:tag name="TAG_CONTENT_DIAGRAM_INDEX" val="5fbad970444b4a4dbc61db213c6c0da7"/>
  <p:tag name="TAG_CONTENT_SUBINDEX" val="5"/>
  <p:tag name="YOO_CHATSHAPE_TYPE" val="YOO_CHATSHAPE_DECORATION"/>
  <p:tag name="KSO_WM_DIAGRAM_VIRTUALLY_FRAME" val="{&quot;height&quot;:306.944251968504,&quot;left&quot;:256.80000000000007,&quot;top&quot;:126.49614173228346,&quot;width&quot;:492.89677165354334}"/>
</p:tagLst>
</file>

<file path=ppt/tags/tag26.xml><?xml version="1.0" encoding="utf-8"?>
<p:tagLst xmlns:p="http://schemas.openxmlformats.org/presentationml/2006/main">
  <p:tag name="TAG_CONTENT_GROUPINDEX" val="5"/>
  <p:tag name="TAG_CONTENT_GROUPCOUNT" val="6"/>
  <p:tag name="TAG_CONTENT_DIAGRAM_INDEX" val="5fbad970444b4a4dbc61db213c6c0da7"/>
  <p:tag name="TAG_CONTENT_SUBINDEX" val="5"/>
  <p:tag name="YOO_CHATSHAPE_TYPE" val="YOO_CHATSHAPE_NUM"/>
  <p:tag name="KSO_WM_DIAGRAM_VIRTUALLY_FRAME" val="{&quot;height&quot;:306.944251968504,&quot;left&quot;:256.80000000000007,&quot;top&quot;:126.49614173228346,&quot;width&quot;:492.89677165354334}"/>
</p:tagLst>
</file>

<file path=ppt/tags/tag27.xml><?xml version="1.0" encoding="utf-8"?>
<p:tagLst xmlns:p="http://schemas.openxmlformats.org/presentationml/2006/main">
  <p:tag name="TAG_CONTENT_GROUPINDEX" val="5"/>
  <p:tag name="TAG_CONTENT_GROUPCOUNT" val="6"/>
  <p:tag name="TAG_CONTENT_DIAGRAM_INDEX" val="5fbad970444b4a4dbc61db213c6c0da7"/>
  <p:tag name="TAG_CONTENT_SUBINDEX" val="5"/>
  <p:tag name="YOO_CHATSHAPE_TYPE" val="YOO_CHATSHAPE_CATALOG"/>
  <p:tag name="KSO_WM_DIAGRAM_VIRTUALLY_FRAME" val="{&quot;height&quot;:306.944251968504,&quot;left&quot;:256.80000000000007,&quot;top&quot;:126.49614173228346,&quot;width&quot;:492.89677165354334}"/>
</p:tagLst>
</file>

<file path=ppt/tags/tag28.xml><?xml version="1.0" encoding="utf-8"?>
<p:tagLst xmlns:p="http://schemas.openxmlformats.org/presentationml/2006/main">
  <p:tag name="YOO_CHATSHAPE_TYPE" val="YOO_CHATSHAPE_IMAGE"/>
  <p:tag name="TAG_CONTENT_SUBINDEX" val="19"/>
</p:tagLst>
</file>

<file path=ppt/tags/tag29.xml><?xml version="1.0" encoding="utf-8"?>
<p:tagLst xmlns:p="http://schemas.openxmlformats.org/presentationml/2006/main">
  <p:tag name="TAG_CHATPPT" val="ChatPPT"/>
  <p:tag name="YOO_CHATPAGE_TYPE" val="TAG_CHATPAGE_CATALOG"/>
</p:tagLst>
</file>

<file path=ppt/tags/tag30.xml><?xml version="1.0" encoding="utf-8"?>
<p:tagLst xmlns:p="http://schemas.openxmlformats.org/presentationml/2006/main">
  <p:tag name="YOO_CHATSHAPE_TYPE" val="YOO_CHATSHAPE_NUM"/>
</p:tagLst>
</file>

<file path=ppt/tags/tag31.xml><?xml version="1.0" encoding="utf-8"?>
<p:tagLst xmlns:p="http://schemas.openxmlformats.org/presentationml/2006/main">
  <p:tag name="YOO_CHATSHAPE_TYPE" val="YOO_CHATSHAPE_TITLE"/>
</p:tagLst>
</file>

<file path=ppt/tags/tag32.xml><?xml version="1.0" encoding="utf-8"?>
<p:tagLst xmlns:p="http://schemas.openxmlformats.org/presentationml/2006/main">
  <p:tag name="YOO_CHATSHAPE_TYPE" val="YOO_CHATSHAPE_SUBTITLE"/>
</p:tagLst>
</file>

<file path=ppt/tags/tag33.xml><?xml version="1.0" encoding="utf-8"?>
<p:tagLst xmlns:p="http://schemas.openxmlformats.org/presentationml/2006/main">
  <p:tag name="TAG_CHATPPT" val="ChatPPT"/>
  <p:tag name="YOO_CHATPAGE_TYPE" val="TAG_CHATPAGE_CHAPTER"/>
</p:tagLst>
</file>

<file path=ppt/tags/tag34.xml><?xml version="1.0" encoding="utf-8"?>
<p:tagLst xmlns:p="http://schemas.openxmlformats.org/presentationml/2006/main">
  <p:tag name="YOO_CHATSHAPE_TYPE" val="YOO_CHATSHAPE_DECORATION"/>
</p:tagLst>
</file>

<file path=ppt/tags/tag35.xml><?xml version="1.0" encoding="utf-8"?>
<p:tagLst xmlns:p="http://schemas.openxmlformats.org/presentationml/2006/main">
  <p:tag name="YOO_CHATSHAPE_TYPE" val="YOO_CHATSHAPE_DECORATION"/>
</p:tagLst>
</file>

<file path=ppt/tags/tag36.xml><?xml version="1.0" encoding="utf-8"?>
<p:tagLst xmlns:p="http://schemas.openxmlformats.org/presentationml/2006/main">
  <p:tag name="YOO_CHATSHAPE_TYPE" val="YOO_CHATSHAPE_TITLE"/>
</p:tagLst>
</file>

<file path=ppt/tags/tag3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a68f99bbdae4c1e97e6624804a4b8e5"/>
  <p:tag name="TAG_CONTENT_SUBINDEX" val="1"/>
  <p:tag name="TAG_CHATSHAPE_LINK" val="sp:子标题1"/>
</p:tagLst>
</file>

<file path=ppt/tags/tag3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a68f99bbdae4c1e97e6624804a4b8e5"/>
  <p:tag name="TAG_CONTENT_SUBINDEX" val="1"/>
  <p:tag name="TAG_CHATSHAPE_LINK" val="sp:子标题1"/>
</p:tagLst>
</file>

<file path=ppt/tags/tag3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a68f99bbdae4c1e97e6624804a4b8e5"/>
  <p:tag name="TAG_CONTENT_SUBINDEX" val="1"/>
  <p:tag name="TAG_CHATSHAPE_LINK" val="sp:子标题1"/>
</p:tagLst>
</file>

<file path=ppt/tags/tag40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4a68f99bbdae4c1e97e6624804a4b8e5"/>
  <p:tag name="TAG_CONTENT_SUBINDEX" val="1"/>
  <p:tag name="TAG_CHATSHAPE_LINK" val="sp:子标题1"/>
</p:tagLst>
</file>

<file path=ppt/tags/tag41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4a68f99bbdae4c1e97e6624804a4b8e5"/>
  <p:tag name="TAG_CONTENT_SUBINDEX" val="1"/>
</p:tagLst>
</file>

<file path=ppt/tags/tag42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4a68f99bbdae4c1e97e6624804a4b8e5"/>
  <p:tag name="TAG_CONTENT_SUBINDEX" val="1"/>
  <p:tag name="TAG_CITE_ID" val="15"/>
</p:tagLst>
</file>

<file path=ppt/tags/tag4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4a68f99bbdae4c1e97e6624804a4b8e5"/>
  <p:tag name="TAG_CONTENT_SUBINDEX" val="1"/>
</p:tagLst>
</file>

<file path=ppt/tags/tag44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a68f99bbdae4c1e97e6624804a4b8e5"/>
  <p:tag name="TAG_CONTENT_SUBINDEX" val="2"/>
  <p:tag name="TAG_CHATSHAPE_LINK" val="sp:子标题2"/>
</p:tagLst>
</file>

<file path=ppt/tags/tag45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a68f99bbdae4c1e97e6624804a4b8e5"/>
  <p:tag name="TAG_CONTENT_SUBINDEX" val="2"/>
  <p:tag name="TAG_CHATSHAPE_LINK" val="sp:子标题2"/>
</p:tagLst>
</file>

<file path=ppt/tags/tag46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a68f99bbdae4c1e97e6624804a4b8e5"/>
  <p:tag name="TAG_CONTENT_SUBINDEX" val="2"/>
  <p:tag name="TAG_CHATSHAPE_LINK" val="sp:子标题2"/>
</p:tagLst>
</file>

<file path=ppt/tags/tag47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4a68f99bbdae4c1e97e6624804a4b8e5"/>
  <p:tag name="TAG_CONTENT_SUBINDEX" val="2"/>
  <p:tag name="TAG_CHATSHAPE_LINK" val="sp:子标题2"/>
</p:tagLst>
</file>

<file path=ppt/tags/tag48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4a68f99bbdae4c1e97e6624804a4b8e5"/>
  <p:tag name="TAG_CONTENT_SUBINDEX" val="2"/>
</p:tagLst>
</file>

<file path=ppt/tags/tag49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4a68f99bbdae4c1e97e6624804a4b8e5"/>
  <p:tag name="TAG_CONTENT_SUBINDEX" val="2"/>
  <p:tag name="TAG_CITE_ID" val="20,21"/>
</p:tagLst>
</file>

<file path=ppt/tags/tag50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4a68f99bbdae4c1e97e6624804a4b8e5"/>
  <p:tag name="TAG_CONTENT_SUBINDEX" val="2"/>
</p:tagLst>
</file>

<file path=ppt/tags/tag51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a68f99bbdae4c1e97e6624804a4b8e5"/>
  <p:tag name="TAG_CONTENT_SUBINDEX" val="3"/>
  <p:tag name="TAG_CHATSHAPE_LINK" val="sp:子标题3"/>
</p:tagLst>
</file>

<file path=ppt/tags/tag52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a68f99bbdae4c1e97e6624804a4b8e5"/>
  <p:tag name="TAG_CONTENT_SUBINDEX" val="3"/>
  <p:tag name="TAG_CHATSHAPE_LINK" val="sp:子标题3"/>
</p:tagLst>
</file>

<file path=ppt/tags/tag53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a68f99bbdae4c1e97e6624804a4b8e5"/>
  <p:tag name="TAG_CONTENT_SUBINDEX" val="3"/>
  <p:tag name="TAG_CHATSHAPE_LINK" val="sp:子标题3"/>
</p:tagLst>
</file>

<file path=ppt/tags/tag54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4a68f99bbdae4c1e97e6624804a4b8e5"/>
  <p:tag name="TAG_CONTENT_SUBINDEX" val="3"/>
  <p:tag name="TAG_CHATSHAPE_LINK" val="sp:子标题3"/>
</p:tagLst>
</file>

<file path=ppt/tags/tag55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4a68f99bbdae4c1e97e6624804a4b8e5"/>
  <p:tag name="TAG_CONTENT_SUBINDEX" val="3"/>
</p:tagLst>
</file>

<file path=ppt/tags/tag56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4a68f99bbdae4c1e97e6624804a4b8e5"/>
  <p:tag name="TAG_CONTENT_SUBINDEX" val="3"/>
  <p:tag name="TAG_CITE_ID" val="22"/>
</p:tagLst>
</file>

<file path=ppt/tags/tag57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4a68f99bbdae4c1e97e6624804a4b8e5"/>
  <p:tag name="TAG_CONTENT_SUBINDEX" val="3"/>
</p:tagLst>
</file>

<file path=ppt/tags/tag58.xml><?xml version="1.0" encoding="utf-8"?>
<p:tagLst xmlns:p="http://schemas.openxmlformats.org/presentationml/2006/main">
  <p:tag name="YOO_CHATPAGE_TYPE" val="TAG_CHATPAGE_MULTCONTENT"/>
</p:tagLst>
</file>

<file path=ppt/tags/tag59.xml><?xml version="1.0" encoding="utf-8"?>
<p:tagLst xmlns:p="http://schemas.openxmlformats.org/presentationml/2006/main">
  <p:tag name="YOO_CHATSHAPE_TYPE" val="YOO_CHATSHAPE_DECORATION"/>
</p:tagLst>
</file>

<file path=ppt/tags/tag60.xml><?xml version="1.0" encoding="utf-8"?>
<p:tagLst xmlns:p="http://schemas.openxmlformats.org/presentationml/2006/main">
  <p:tag name="YOO_CHATSHAPE_TYPE" val="YOO_CHATSHAPE_DECORATION"/>
</p:tagLst>
</file>

<file path=ppt/tags/tag61.xml><?xml version="1.0" encoding="utf-8"?>
<p:tagLst xmlns:p="http://schemas.openxmlformats.org/presentationml/2006/main">
  <p:tag name="YOO_CHATSHAPE_TYPE" val="YOO_CHATSHAPE_TITLE"/>
</p:tagLst>
</file>

<file path=ppt/tags/tag62.xml><?xml version="1.0" encoding="utf-8"?>
<p:tagLst xmlns:p="http://schemas.openxmlformats.org/presentationml/2006/main">
  <p:tag name="YOO_CHATSHAPE_TYPE" val="YOO_CHATSHAPE_PAGEDECORATE"/>
  <p:tag name="TAG_CONTENT_SUBINDEX" val="1"/>
</p:tagLst>
</file>

<file path=ppt/tags/tag63.xml><?xml version="1.0" encoding="utf-8"?>
<p:tagLst xmlns:p="http://schemas.openxmlformats.org/presentationml/2006/main">
  <p:tag name="YOO_CHATSHAPE_TYPE" val="YOO_CHATSHAPE_PAGEDECORATE"/>
  <p:tag name="TAG_CONTENT_SUBINDEX" val="2"/>
</p:tagLst>
</file>

<file path=ppt/tags/tag64.xml><?xml version="1.0" encoding="utf-8"?>
<p:tagLst xmlns:p="http://schemas.openxmlformats.org/presentationml/2006/main">
  <p:tag name="YOO_CHATSHAPE_TYPE" val="YOO_CHATSHAPE_PAGEDECORATE"/>
  <p:tag name="TAG_CONTENT_SUBINDEX" val="3"/>
</p:tagLst>
</file>

<file path=ppt/tags/tag6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6f2aa6dd4f024e9091e70e1001153f30"/>
  <p:tag name="TAG_CONTENT_SUBINDEX" val="1"/>
  <p:tag name="TAG_CHATSHAPE_LINK" val="sp:子标题1"/>
</p:tagLst>
</file>

<file path=ppt/tags/tag66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6f2aa6dd4f024e9091e70e1001153f30"/>
  <p:tag name="TAG_CONTENT_SUBINDEX" val="2"/>
  <p:tag name="TAG_CHATSHAPE_LINK" val="sp:子标题2"/>
</p:tagLst>
</file>

<file path=ppt/tags/tag67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6f2aa6dd4f024e9091e70e1001153f30"/>
  <p:tag name="TAG_CONTENT_SUBINDEX" val="3"/>
  <p:tag name="TAG_CHATSHAPE_LINK" val="sp:子标题3"/>
</p:tagLst>
</file>

<file path=ppt/tags/tag68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6f2aa6dd4f024e9091e70e1001153f30"/>
  <p:tag name="TAG_CONTENT_SUBINDEX" val="1"/>
  <p:tag name="TAG_CITE_ID" val="40,41"/>
</p:tagLst>
</file>

<file path=ppt/tags/tag69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6f2aa6dd4f024e9091e70e1001153f30"/>
  <p:tag name="TAG_CONTENT_SUBINDEX" val="1"/>
</p:tagLst>
</file>

<file path=ppt/tags/tag70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6f2aa6dd4f024e9091e70e1001153f30"/>
  <p:tag name="TAG_CONTENT_SUBINDEX" val="2"/>
  <p:tag name="TAG_CITE_ID" val="42"/>
</p:tagLst>
</file>

<file path=ppt/tags/tag71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6f2aa6dd4f024e9091e70e1001153f30"/>
  <p:tag name="TAG_CONTENT_SUBINDEX" val="2"/>
</p:tagLst>
</file>

<file path=ppt/tags/tag72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6f2aa6dd4f024e9091e70e1001153f30"/>
  <p:tag name="TAG_CONTENT_SUBINDEX" val="3"/>
  <p:tag name="TAG_CITE_ID" val="12"/>
</p:tagLst>
</file>

<file path=ppt/tags/tag73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6f2aa6dd4f024e9091e70e1001153f30"/>
  <p:tag name="TAG_CONTENT_SUBINDEX" val="3"/>
</p:tagLst>
</file>

<file path=ppt/tags/tag74.xml><?xml version="1.0" encoding="utf-8"?>
<p:tagLst xmlns:p="http://schemas.openxmlformats.org/presentationml/2006/main">
  <p:tag name="YOO_CHATSHAPE_TYPE" val="YOO_CHATSHAPE_NUM"/>
  <p:tag name="TAG_CONTENT_GROUPINDEX" val="1"/>
  <p:tag name="TAG_CONTENT_GROUPCOUNT" val="3"/>
  <p:tag name="TAG_CONTENT_DIAGRAM_INDEX" val="6f2aa6dd4f024e9091e70e1001153f30"/>
  <p:tag name="TAG_CONTENT_SUBINDEX" val="1"/>
</p:tagLst>
</file>

<file path=ppt/tags/tag75.xml><?xml version="1.0" encoding="utf-8"?>
<p:tagLst xmlns:p="http://schemas.openxmlformats.org/presentationml/2006/main">
  <p:tag name="YOO_CHATSHAPE_TYPE" val="YOO_CHATSHAPE_NUM"/>
  <p:tag name="TAG_CONTENT_GROUPINDEX" val="2"/>
  <p:tag name="TAG_CONTENT_GROUPCOUNT" val="3"/>
  <p:tag name="TAG_CONTENT_DIAGRAM_INDEX" val="6f2aa6dd4f024e9091e70e1001153f30"/>
  <p:tag name="TAG_CONTENT_SUBINDEX" val="2"/>
</p:tagLst>
</file>

<file path=ppt/tags/tag76.xml><?xml version="1.0" encoding="utf-8"?>
<p:tagLst xmlns:p="http://schemas.openxmlformats.org/presentationml/2006/main">
  <p:tag name="YOO_CHATSHAPE_TYPE" val="YOO_CHATSHAPE_NUM"/>
  <p:tag name="TAG_CONTENT_GROUPINDEX" val="3"/>
  <p:tag name="TAG_CONTENT_GROUPCOUNT" val="3"/>
  <p:tag name="TAG_CONTENT_DIAGRAM_INDEX" val="6f2aa6dd4f024e9091e70e1001153f30"/>
  <p:tag name="TAG_CONTENT_SUBINDEX" val="3"/>
</p:tagLst>
</file>

<file path=ppt/tags/tag77.xml><?xml version="1.0" encoding="utf-8"?>
<p:tagLst xmlns:p="http://schemas.openxmlformats.org/presentationml/2006/main">
  <p:tag name="YOO_CHATPAGE_TYPE" val="TAG_CHATPAGE_MULTCONTENT"/>
</p:tagLst>
</file>

<file path=ppt/tags/tag78.xml><?xml version="1.0" encoding="utf-8"?>
<p:tagLst xmlns:p="http://schemas.openxmlformats.org/presentationml/2006/main">
  <p:tag name="YOO_CHATSHAPE_TYPE" val="YOO_CHATSHAPE_NUM"/>
</p:tagLst>
</file>

<file path=ppt/tags/tag79.xml><?xml version="1.0" encoding="utf-8"?>
<p:tagLst xmlns:p="http://schemas.openxmlformats.org/presentationml/2006/main">
  <p:tag name="YOO_CHATSHAPE_TYPE" val="YOO_CHATSHAPE_TITLE"/>
</p:tagLst>
</file>

<file path=ppt/tags/tag80.xml><?xml version="1.0" encoding="utf-8"?>
<p:tagLst xmlns:p="http://schemas.openxmlformats.org/presentationml/2006/main">
  <p:tag name="YOO_CHATSHAPE_TYPE" val="YOO_CHATSHAPE_SUBTITLE"/>
</p:tagLst>
</file>

<file path=ppt/tags/tag81.xml><?xml version="1.0" encoding="utf-8"?>
<p:tagLst xmlns:p="http://schemas.openxmlformats.org/presentationml/2006/main">
  <p:tag name="TAG_CHATPPT" val="ChatPPT"/>
  <p:tag name="YOO_CHATPAGE_TYPE" val="TAG_CHATPAGE_CHAPTER"/>
</p:tagLst>
</file>

<file path=ppt/tags/tag82.xml><?xml version="1.0" encoding="utf-8"?>
<p:tagLst xmlns:p="http://schemas.openxmlformats.org/presentationml/2006/main">
  <p:tag name="YOO_CHATSHAPE_TYPE" val="YOO_CHATSHAPE_DECORATION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2"/>
  <p:tag name="TAG_CONTENT_DIAGRAM_INDEX" val="31f4a9f66ffc4c9f9853e37d94462d36"/>
  <p:tag name="TAG_CONTENT_SUBINDEX" val="1"/>
  <p:tag name="TAG_CHATSHAPE_LINK" val="sp:子标题1"/>
</p:tagLst>
</file>

<file path=ppt/tags/tag85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2"/>
  <p:tag name="TAG_CONTENT_DIAGRAM_INDEX" val="31f4a9f66ffc4c9f9853e37d94462d36"/>
  <p:tag name="TAG_CONTENT_SUBINDEX" val="1"/>
  <p:tag name="TAG_CHATSHAPE_LINK" val="sp:子标题1"/>
</p:tagLst>
</file>

<file path=ppt/tags/tag86.xml><?xml version="1.0" encoding="utf-8"?>
<p:tagLst xmlns:p="http://schemas.openxmlformats.org/presentationml/2006/main">
  <p:tag name="YOO_CHATSHAPE_TYPE" val="YOO_CHATSHAPE_ICON"/>
  <p:tag name="TAG_CONTENT_GROUPINDEX" val="1"/>
  <p:tag name="TAG_CONTENT_GROUPCOUNT" val="2"/>
  <p:tag name="TAG_CONTENT_DIAGRAM_INDEX" val="31f4a9f66ffc4c9f9853e37d94462d36"/>
  <p:tag name="TAG_CONTENT_SUBINDEX" val="1"/>
</p:tagLst>
</file>

<file path=ppt/tags/tag87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2"/>
  <p:tag name="TAG_CONTENT_DIAGRAM_INDEX" val="31f4a9f66ffc4c9f9853e37d94462d36"/>
  <p:tag name="TAG_CONTENT_SUBINDEX" val="1"/>
  <p:tag name="TAG_CITE_ID" val="20"/>
</p:tagLst>
</file>

<file path=ppt/tags/tag88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2"/>
  <p:tag name="TAG_CONTENT_DIAGRAM_INDEX" val="31f4a9f66ffc4c9f9853e37d94462d36"/>
  <p:tag name="TAG_CONTENT_SUBINDEX" val="2"/>
  <p:tag name="TAG_CHATSHAPE_LINK" val="sp:子标题2"/>
</p:tagLst>
</file>

<file path=ppt/tags/tag89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2"/>
  <p:tag name="TAG_CONTENT_DIAGRAM_INDEX" val="31f4a9f66ffc4c9f9853e37d94462d36"/>
  <p:tag name="TAG_CONTENT_SUBINDEX" val="2"/>
  <p:tag name="TAG_CHATSHAPE_LINK" val="sp:子标题2"/>
</p:tagLst>
</file>

<file path=ppt/tags/tag90.xml><?xml version="1.0" encoding="utf-8"?>
<p:tagLst xmlns:p="http://schemas.openxmlformats.org/presentationml/2006/main">
  <p:tag name="YOO_CHATSHAPE_TYPE" val="YOO_CHATSHAPE_ICON"/>
  <p:tag name="TAG_CONTENT_GROUPINDEX" val="2"/>
  <p:tag name="TAG_CONTENT_GROUPCOUNT" val="2"/>
  <p:tag name="TAG_CONTENT_DIAGRAM_INDEX" val="31f4a9f66ffc4c9f9853e37d94462d36"/>
  <p:tag name="TAG_CONTENT_SUBINDEX" val="2"/>
</p:tagLst>
</file>

<file path=ppt/tags/tag91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2"/>
  <p:tag name="TAG_CONTENT_DIAGRAM_INDEX" val="31f4a9f66ffc4c9f9853e37d94462d36"/>
  <p:tag name="TAG_CONTENT_SUBINDEX" val="2"/>
  <p:tag name="TAG_CITE_ID" val="27,22"/>
</p:tagLst>
</file>

<file path=ppt/tags/tag92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2"/>
  <p:tag name="TAG_CONTENT_DIAGRAM_INDEX" val="31f4a9f66ffc4c9f9853e37d94462d36"/>
  <p:tag name="TAG_CONTENT_SUBINDEX" val="2"/>
</p:tagLst>
</file>

<file path=ppt/tags/tag93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2"/>
  <p:tag name="TAG_CONTENT_DIAGRAM_INDEX" val="31f4a9f66ffc4c9f9853e37d94462d36"/>
  <p:tag name="TAG_CONTENT_SUBINDEX" val="1"/>
</p:tagLst>
</file>

<file path=ppt/tags/tag94.xml><?xml version="1.0" encoding="utf-8"?>
<p:tagLst xmlns:p="http://schemas.openxmlformats.org/presentationml/2006/main">
  <p:tag name="YOO_CHATSHAPE_TYPE" val="YOO_CHATSHAPE_TITLE"/>
</p:tagLst>
</file>

<file path=ppt/tags/tag95.xml><?xml version="1.0" encoding="utf-8"?>
<p:tagLst xmlns:p="http://schemas.openxmlformats.org/presentationml/2006/main">
  <p:tag name="YOO_CHATPAGE_TYPE" val="TAG_CHATPAGE_MULTCONTENT"/>
</p:tagLst>
</file>

<file path=ppt/tags/tag96.xml><?xml version="1.0" encoding="utf-8"?>
<p:tagLst xmlns:p="http://schemas.openxmlformats.org/presentationml/2006/main">
  <p:tag name="YOO_CHATSHAPE_TYPE" val="YOO_CHATSHAPE_DECORATION"/>
</p:tagLst>
</file>

<file path=ppt/tags/tag97.xml><?xml version="1.0" encoding="utf-8"?>
<p:tagLst xmlns:p="http://schemas.openxmlformats.org/presentationml/2006/main">
  <p:tag name="YOO_CHATSHAPE_TYPE" val="YOO_CHATSHAPE_DECORATION"/>
</p:tagLst>
</file>

<file path=ppt/tags/tag98.xml><?xml version="1.0" encoding="utf-8"?>
<p:tagLst xmlns:p="http://schemas.openxmlformats.org/presentationml/2006/main">
  <p:tag name="YOO_CHATSHAPE_TYPE" val="YOO_CHATSHAPE_DECORATION"/>
</p:tagLst>
</file>

<file path=ppt/tags/tag99.xml><?xml version="1.0" encoding="utf-8"?>
<p:tagLst xmlns:p="http://schemas.openxmlformats.org/presentationml/2006/main">
  <p:tag name="YOO_CHATSHAPE_TYPE" val="YOO_CHATSHAPE_DECORATION"/>
</p:tagLst>
</file>

<file path=ppt/tags/tag100.xml><?xml version="1.0" encoding="utf-8"?>
<p:tagLst xmlns:p="http://schemas.openxmlformats.org/presentationml/2006/main">
  <p:tag name="YOO_CHATSHAPE_TYPE" val="YOO_CHATSHAPE_CONTENT"/>
  <p:tag name="TAG_CITE_ID" val="26,27,27"/>
</p:tagLst>
</file>

<file path=ppt/tags/tag101.xml><?xml version="1.0" encoding="utf-8"?>
<p:tagLst xmlns:p="http://schemas.openxmlformats.org/presentationml/2006/main">
  <p:tag name="YOO_CHATSHAPE_TYPE" val="YOO_CHATSHAPE_TITLE"/>
</p:tagLst>
</file>

<file path=ppt/tags/tag102.xml><?xml version="1.0" encoding="utf-8"?>
<p:tagLst xmlns:p="http://schemas.openxmlformats.org/presentationml/2006/main">
  <p:tag name="YOO_CHATSHAPE_TYPE" val="YOO_CHATSHAPE_IMAGE"/>
  <p:tag name="TAG_CONTENT_SUBINDEX" val="1"/>
</p:tagLst>
</file>

<file path=ppt/tags/tag103.xml><?xml version="1.0" encoding="utf-8"?>
<p:tagLst xmlns:p="http://schemas.openxmlformats.org/presentationml/2006/main">
  <p:tag name="YOO_CHATSHAPE_TYPE" val="YOO_CHATSHAPE_IMAGE"/>
  <p:tag name="TAG_CONTENT_SUBINDEX" val="2"/>
</p:tagLst>
</file>

<file path=ppt/tags/tag104.xml><?xml version="1.0" encoding="utf-8"?>
<p:tagLst xmlns:p="http://schemas.openxmlformats.org/presentationml/2006/main">
  <p:tag name="YOO_CHATPAGE_TYPE" val="TAG_CHATPAGE_CONTENT"/>
</p:tagLst>
</file>

<file path=ppt/tags/tag105.xml><?xml version="1.0" encoding="utf-8"?>
<p:tagLst xmlns:p="http://schemas.openxmlformats.org/presentationml/2006/main">
  <p:tag name="YOO_CHATSHAPE_TYPE" val="YOO_CHATSHAPE_NUM"/>
</p:tagLst>
</file>

<file path=ppt/tags/tag106.xml><?xml version="1.0" encoding="utf-8"?>
<p:tagLst xmlns:p="http://schemas.openxmlformats.org/presentationml/2006/main">
  <p:tag name="YOO_CHATSHAPE_TYPE" val="YOO_CHATSHAPE_TITLE"/>
</p:tagLst>
</file>

<file path=ppt/tags/tag107.xml><?xml version="1.0" encoding="utf-8"?>
<p:tagLst xmlns:p="http://schemas.openxmlformats.org/presentationml/2006/main">
  <p:tag name="YOO_CHATSHAPE_TYPE" val="YOO_CHATSHAPE_SUBTITLE"/>
</p:tagLst>
</file>

<file path=ppt/tags/tag108.xml><?xml version="1.0" encoding="utf-8"?>
<p:tagLst xmlns:p="http://schemas.openxmlformats.org/presentationml/2006/main">
  <p:tag name="TAG_CHATPPT" val="ChatPPT"/>
  <p:tag name="YOO_CHATPAGE_TYPE" val="TAG_CHATPAGE_CHAPTER"/>
</p:tagLst>
</file>

<file path=ppt/tags/tag109.xml><?xml version="1.0" encoding="utf-8"?>
<p:tagLst xmlns:p="http://schemas.openxmlformats.org/presentationml/2006/main">
  <p:tag name="YOO_CHATSHAPE_TYPE" val="YOO_CHATSHAPE_DECORATION"/>
</p:tagLst>
</file>

<file path=ppt/tags/tag110.xml><?xml version="1.0" encoding="utf-8"?>
<p:tagLst xmlns:p="http://schemas.openxmlformats.org/presentationml/2006/main">
  <p:tag name="YOO_CHATSHAPE_TYPE" val="YOO_CHATSHAPE_DECORATION"/>
</p:tagLst>
</file>

<file path=ppt/tags/tag111.xml><?xml version="1.0" encoding="utf-8"?>
<p:tagLst xmlns:p="http://schemas.openxmlformats.org/presentationml/2006/main">
  <p:tag name="YOO_CHATSHAPE_TYPE" val="YOO_CHATSHAPE_TITLE"/>
</p:tagLst>
</file>

<file path=ppt/tags/tag112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3"/>
  <p:tag name="TAG_CHATSHAPE_LINK" val="sp:子标题3"/>
  <p:tag name="YOO_CHATSHAPE_TYPE" val="YOO_CHATSHAPE_DECORATION"/>
</p:tagLst>
</file>

<file path=ppt/tags/tag113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3"/>
  <p:tag name="TAG_CHATSHAPE_LINK" val="sp:子标题3"/>
  <p:tag name="YOO_CHATSHAPE_TYPE" val="YOO_CHATSHAPE_DECORATION"/>
</p:tagLst>
</file>

<file path=ppt/tags/tag114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3"/>
  <p:tag name="TAG_CHATSHAPE_LINK" val="sp:子标题3"/>
  <p:tag name="YOO_CHATSHAPE_TYPE" val="YOO_CHATSHAPE_DECORATION"/>
</p:tagLst>
</file>

<file path=ppt/tags/tag115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2"/>
  <p:tag name="TAG_CHATSHAPE_LINK" val="sp:子标题2"/>
  <p:tag name="YOO_CHATSHAPE_TYPE" val="YOO_CHATSHAPE_DECORATION"/>
</p:tagLst>
</file>

<file path=ppt/tags/tag116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2"/>
  <p:tag name="TAG_CHATSHAPE_LINK" val="sp:子标题2"/>
  <p:tag name="YOO_CHATSHAPE_TYPE" val="YOO_CHATSHAPE_DECORATION"/>
</p:tagLst>
</file>

<file path=ppt/tags/tag117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2"/>
  <p:tag name="TAG_CHATSHAPE_LINK" val="sp:子标题2"/>
  <p:tag name="YOO_CHATSHAPE_TYPE" val="YOO_CHATSHAPE_DECORATION"/>
</p:tagLst>
</file>

<file path=ppt/tags/tag118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1"/>
  <p:tag name="TAG_CHATSHAPE_LINK" val="sp:子标题1"/>
  <p:tag name="YOO_CHATSHAPE_TYPE" val="YOO_CHATSHAPE_DECORATION"/>
</p:tagLst>
</file>

<file path=ppt/tags/tag119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1"/>
  <p:tag name="TAG_CHATSHAPE_LINK" val="sp:子标题1"/>
  <p:tag name="YOO_CHATSHAPE_TYPE" val="YOO_CHATSHAPE_DECORATION"/>
</p:tagLst>
</file>

<file path=ppt/tags/tag120.xml><?xml version="1.0" encoding="utf-8"?>
<p:tagLst xmlns:p="http://schemas.openxmlformats.org/presentationml/2006/main">
  <p:tag name="TAG_CONTENT_GROUPINDEX" val="1"/>
  <p:tag name="TAG_CONTENT_GROUPCOUNT" val="3"/>
  <p:tag name="TAG_CONTENT_DIAGRAM_INDEX" val="d9c44c00416b48cf9fb28a53f7c0868f"/>
  <p:tag name="TAG_CONTENT_SUBINDEX" val="1"/>
  <p:tag name="TAG_CHATSHAPE_LINK" val="sp:子标题1"/>
  <p:tag name="YOO_CHATSHAPE_TYPE" val="YOO_CHATSHAPE_DECORATION"/>
</p:tagLst>
</file>

<file path=ppt/tags/tag121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d9c44c00416b48cf9fb28a53f7c0868f"/>
  <p:tag name="TAG_CONTENT_SUBINDEX" val="1"/>
</p:tagLst>
</file>

<file path=ppt/tags/tag122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d9c44c00416b48cf9fb28a53f7c0868f"/>
  <p:tag name="TAG_CONTENT_SUBINDEX" val="1"/>
  <p:tag name="TAG_CITE_ID" val="50"/>
</p:tagLst>
</file>

<file path=ppt/tags/tag123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d9c44c00416b48cf9fb28a53f7c0868f"/>
  <p:tag name="TAG_CONTENT_SUBINDEX" val="2"/>
</p:tagLst>
</file>

<file path=ppt/tags/tag124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d9c44c00416b48cf9fb28a53f7c0868f"/>
  <p:tag name="TAG_CONTENT_SUBINDEX" val="2"/>
  <p:tag name="TAG_CITE_ID" val="50"/>
</p:tagLst>
</file>

<file path=ppt/tags/tag125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d9c44c00416b48cf9fb28a53f7c0868f"/>
  <p:tag name="TAG_CONTENT_SUBINDEX" val="3"/>
</p:tagLst>
</file>

<file path=ppt/tags/tag126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d9c44c00416b48cf9fb28a53f7c0868f"/>
  <p:tag name="TAG_CONTENT_SUBINDEX" val="3"/>
  <p:tag name="TAG_CITE_ID" val="20,21"/>
</p:tagLst>
</file>

<file path=ppt/tags/tag127.xml><?xml version="1.0" encoding="utf-8"?>
<p:tagLst xmlns:p="http://schemas.openxmlformats.org/presentationml/2006/main">
  <p:tag name="YOO_CHATPAGE_TYPE" val="TAG_CHATPAGE_MULTCONTENT"/>
</p:tagLst>
</file>

<file path=ppt/tags/tag128.xml><?xml version="1.0" encoding="utf-8"?>
<p:tagLst xmlns:p="http://schemas.openxmlformats.org/presentationml/2006/main">
  <p:tag name="YOO_CHATSHAPE_TYPE" val="YOO_CHATSHAPE_DECORATION"/>
</p:tagLst>
</file>

<file path=ppt/tags/tag129.xml><?xml version="1.0" encoding="utf-8"?>
<p:tagLst xmlns:p="http://schemas.openxmlformats.org/presentationml/2006/main">
  <p:tag name="YOO_CHATSHAPE_TYPE" val="YOO_CHATSHAPE_DECORATION"/>
</p:tagLst>
</file>

<file path=ppt/tags/tag130.xml><?xml version="1.0" encoding="utf-8"?>
<p:tagLst xmlns:p="http://schemas.openxmlformats.org/presentationml/2006/main">
  <p:tag name="YOO_CHATSHAPE_TYPE" val="YOO_CHATSHAPE_TITLE"/>
</p:tagLst>
</file>

<file path=ppt/tags/tag131.xml><?xml version="1.0" encoding="utf-8"?>
<p:tagLst xmlns:p="http://schemas.openxmlformats.org/presentationml/2006/main">
  <p:tag name="YOO_CHATSHAPE_TYPE" val="YOO_CHATSHAPE_PAGEDECORATE"/>
  <p:tag name="TAG_CONTENT_SUBINDEX" val="2"/>
  <p:tag name="TAG_CHATSHAPE_LINK" val="sp:子标题2【1】"/>
</p:tagLst>
</file>

<file path=ppt/tags/tag132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6d0879b9a10431b93917a4492de41d8"/>
  <p:tag name="TAG_CONTENT_SUBINDEX" val="1"/>
  <p:tag name="TAG_CHATSHAPE_LINK" val="sp:子标题1"/>
</p:tagLst>
</file>

<file path=ppt/tags/tag133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6d0879b9a10431b93917a4492de41d8"/>
  <p:tag name="TAG_CONTENT_SUBINDEX" val="3"/>
  <p:tag name="TAG_CHATSHAPE_LINK" val="sp:子标题3"/>
</p:tagLst>
</file>

<file path=ppt/tags/tag134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16d0879b9a10431b93917a4492de41d8"/>
  <p:tag name="TAG_CONTENT_SUBINDEX" val="1"/>
  <p:tag name="TAG_CITE_ID" val="30,31,29"/>
</p:tagLst>
</file>

<file path=ppt/tags/tag135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16d0879b9a10431b93917a4492de41d8"/>
  <p:tag name="TAG_CONTENT_SUBINDEX" val="1"/>
</p:tagLst>
</file>

<file path=ppt/tags/tag136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16d0879b9a10431b93917a4492de41d8"/>
  <p:tag name="TAG_CONTENT_SUBINDEX" val="2"/>
  <p:tag name="TAG_CITE_ID" val="40"/>
</p:tagLst>
</file>

<file path=ppt/tags/tag137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16d0879b9a10431b93917a4492de41d8"/>
  <p:tag name="TAG_CONTENT_SUBINDEX" val="2"/>
</p:tagLst>
</file>

<file path=ppt/tags/tag138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16d0879b9a10431b93917a4492de41d8"/>
  <p:tag name="TAG_CONTENT_SUBINDEX" val="3"/>
  <p:tag name="TAG_CITE_ID" val="31"/>
</p:tagLst>
</file>

<file path=ppt/tags/tag139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16d0879b9a10431b93917a4492de41d8"/>
  <p:tag name="TAG_CONTENT_SUBINDEX" val="3"/>
</p:tagLst>
</file>

<file path=ppt/tags/tag140.xml><?xml version="1.0" encoding="utf-8"?>
<p:tagLst xmlns:p="http://schemas.openxmlformats.org/presentationml/2006/main">
  <p:tag name="YOO_CHATPAGE_TYPE" val="TAG_CHATPAGE_MULTCONTENT"/>
</p:tagLst>
</file>

<file path=ppt/tags/tag141.xml><?xml version="1.0" encoding="utf-8"?>
<p:tagLst xmlns:p="http://schemas.openxmlformats.org/presentationml/2006/main">
  <p:tag name="YOO_CHATSHAPE_TYPE" val="YOO_CHATSHAPE_NUM"/>
</p:tagLst>
</file>

<file path=ppt/tags/tag142.xml><?xml version="1.0" encoding="utf-8"?>
<p:tagLst xmlns:p="http://schemas.openxmlformats.org/presentationml/2006/main">
  <p:tag name="YOO_CHATSHAPE_TYPE" val="YOO_CHATSHAPE_TITLE"/>
</p:tagLst>
</file>

<file path=ppt/tags/tag143.xml><?xml version="1.0" encoding="utf-8"?>
<p:tagLst xmlns:p="http://schemas.openxmlformats.org/presentationml/2006/main">
  <p:tag name="YOO_CHATSHAPE_TYPE" val="YOO_CHATSHAPE_SUBTITLE"/>
</p:tagLst>
</file>

<file path=ppt/tags/tag144.xml><?xml version="1.0" encoding="utf-8"?>
<p:tagLst xmlns:p="http://schemas.openxmlformats.org/presentationml/2006/main">
  <p:tag name="TAG_CHATPPT" val="ChatPPT"/>
  <p:tag name="YOO_CHATPAGE_TYPE" val="TAG_CHATPAGE_CHAPTER"/>
</p:tagLst>
</file>

<file path=ppt/tags/tag145.xml><?xml version="1.0" encoding="utf-8"?>
<p:tagLst xmlns:p="http://schemas.openxmlformats.org/presentationml/2006/main">
  <p:tag name="YOO_CHATSHAPE_TYPE" val="YOO_CHATSHAPE_DECORATION"/>
</p:tagLst>
</file>

<file path=ppt/tags/tag146.xml><?xml version="1.0" encoding="utf-8"?>
<p:tagLst xmlns:p="http://schemas.openxmlformats.org/presentationml/2006/main">
  <p:tag name="YOO_CHATSHAPE_TYPE" val="YOO_CHATSHAPE_DECORATION"/>
</p:tagLst>
</file>

<file path=ppt/tags/tag147.xml><?xml version="1.0" encoding="utf-8"?>
<p:tagLst xmlns:p="http://schemas.openxmlformats.org/presentationml/2006/main">
  <p:tag name="YOO_CHATSHAPE_TYPE" val="YOO_CHATSHAPE_IMAGE"/>
  <p:tag name="TAG_CONTENT_SUBINDEX" val="3"/>
</p:tagLst>
</file>

<file path=ppt/tags/tag148.xml><?xml version="1.0" encoding="utf-8"?>
<p:tagLst xmlns:p="http://schemas.openxmlformats.org/presentationml/2006/main">
  <p:tag name="YOO_CHATSHAPE_TYPE" val="YOO_CHATSHAPE_IMAGE"/>
  <p:tag name="TAG_CONTENT_SUBINDEX" val="2"/>
</p:tagLst>
</file>

<file path=ppt/tags/tag149.xml><?xml version="1.0" encoding="utf-8"?>
<p:tagLst xmlns:p="http://schemas.openxmlformats.org/presentationml/2006/main">
  <p:tag name="YOO_CHATSHAPE_TYPE" val="YOO_CHATSHAPE_IMAGE"/>
  <p:tag name="TAG_CONTENT_SUBINDEX" val="1"/>
</p:tagLst>
</file>

<file path=ppt/tags/tag150.xml><?xml version="1.0" encoding="utf-8"?>
<p:tagLst xmlns:p="http://schemas.openxmlformats.org/presentationml/2006/main">
  <p:tag name="YOO_CHATSHAPE_TYPE" val="YOO_CHATSHAPE_DECORATION"/>
</p:tagLst>
</file>

<file path=ppt/tags/tag151.xml><?xml version="1.0" encoding="utf-8"?>
<p:tagLst xmlns:p="http://schemas.openxmlformats.org/presentationml/2006/main">
  <p:tag name="YOO_CHATSHAPE_TYPE" val="YOO_CHATSHAPE_TITLE"/>
</p:tagLst>
</file>

<file path=ppt/tags/tag152.xml><?xml version="1.0" encoding="utf-8"?>
<p:tagLst xmlns:p="http://schemas.openxmlformats.org/presentationml/2006/main">
  <p:tag name="YOO_CHATSHAPE_TYPE" val="YOO_CHATSHAPE_CONTENT"/>
  <p:tag name="TAG_CITE_ID" val="41,40,37"/>
</p:tagLst>
</file>

<file path=ppt/tags/tag153.xml><?xml version="1.0" encoding="utf-8"?>
<p:tagLst xmlns:p="http://schemas.openxmlformats.org/presentationml/2006/main">
  <p:tag name="YOO_CHATSHAPE_TYPE" val="YOO_CHATSHAPE_DECORATION"/>
</p:tagLst>
</file>

<file path=ppt/tags/tag154.xml><?xml version="1.0" encoding="utf-8"?>
<p:tagLst xmlns:p="http://schemas.openxmlformats.org/presentationml/2006/main">
  <p:tag name="YOO_CHATPAGE_TYPE" val="TAG_CHATPAGE_CONTENT"/>
</p:tagLst>
</file>

<file path=ppt/tags/tag155.xml><?xml version="1.0" encoding="utf-8"?>
<p:tagLst xmlns:p="http://schemas.openxmlformats.org/presentationml/2006/main">
  <p:tag name="YOO_CHATSHAPE_TYPE" val="YOO_CHATSHAPE_DECORATION"/>
</p:tagLst>
</file>

<file path=ppt/tags/tag156.xml><?xml version="1.0" encoding="utf-8"?>
<p:tagLst xmlns:p="http://schemas.openxmlformats.org/presentationml/2006/main">
  <p:tag name="YOO_CHATSHAPE_TYPE" val="YOO_CHATSHAPE_DECORATION"/>
</p:tagLst>
</file>

<file path=ppt/tags/tag157.xml><?xml version="1.0" encoding="utf-8"?>
<p:tagLst xmlns:p="http://schemas.openxmlformats.org/presentationml/2006/main">
  <p:tag name="YOO_CHATSHAPE_TYPE" val="YOO_CHATSHAPE_TITLE"/>
</p:tagLst>
</file>

<file path=ppt/tags/tag158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c14ce62a9104fef8e56624dadfb2084"/>
  <p:tag name="TAG_CONTENT_SUBINDEX" val="1"/>
  <p:tag name="TAG_CHATSHAPE_LINK" val="sp:子标题1"/>
</p:tagLst>
</file>

<file path=ppt/tags/tag159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c14ce62a9104fef8e56624dadfb2084"/>
  <p:tag name="TAG_CONTENT_SUBINDEX" val="1"/>
  <p:tag name="TAG_CHATSHAPE_LINK" val="sp:子标题1"/>
</p:tagLst>
</file>

<file path=ppt/tags/tag160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c14ce62a9104fef8e56624dadfb2084"/>
  <p:tag name="TAG_CONTENT_SUBINDEX" val="1"/>
  <p:tag name="TAG_CHATSHAPE_LINK" val="sp:子标题1"/>
</p:tagLst>
</file>

<file path=ppt/tags/tag161.xml><?xml version="1.0" encoding="utf-8"?>
<p:tagLst xmlns:p="http://schemas.openxmlformats.org/presentationml/2006/main">
  <p:tag name="YOO_CHATSHAPE_TYPE" val="YOO_CHATSHAPE_CHILDCONTENT"/>
  <p:tag name="TAG_CONTENT_GROUPINDEX" val="1"/>
  <p:tag name="TAG_CONTENT_GROUPCOUNT" val="3"/>
  <p:tag name="TAG_CONTENT_DIAGRAM_INDEX" val="1c14ce62a9104fef8e56624dadfb2084"/>
  <p:tag name="TAG_CONTENT_SUBINDEX" val="1"/>
  <p:tag name="TAG_CITE_ID" val="50"/>
</p:tagLst>
</file>

<file path=ppt/tags/tag162.xml><?xml version="1.0" encoding="utf-8"?>
<p:tagLst xmlns:p="http://schemas.openxmlformats.org/presentationml/2006/main">
  <p:tag name="YOO_CHATSHAPE_TYPE" val="YOO_CHATSHAPE_CHILDTITLE"/>
  <p:tag name="TAG_CONTENT_GROUPINDEX" val="1"/>
  <p:tag name="TAG_CONTENT_GROUPCOUNT" val="3"/>
  <p:tag name="TAG_CONTENT_DIAGRAM_INDEX" val="1c14ce62a9104fef8e56624dadfb2084"/>
  <p:tag name="TAG_CONTENT_SUBINDEX" val="1"/>
</p:tagLst>
</file>

<file path=ppt/tags/tag163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1c14ce62a9104fef8e56624dadfb2084"/>
  <p:tag name="TAG_CONTENT_SUBINDEX" val="2"/>
  <p:tag name="TAG_CHATSHAPE_LINK" val="sp:子标题2"/>
</p:tagLst>
</file>

<file path=ppt/tags/tag164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1c14ce62a9104fef8e56624dadfb2084"/>
  <p:tag name="TAG_CONTENT_SUBINDEX" val="2"/>
  <p:tag name="TAG_CHATSHAPE_LINK" val="sp:子标题2"/>
</p:tagLst>
</file>

<file path=ppt/tags/tag165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1c14ce62a9104fef8e56624dadfb2084"/>
  <p:tag name="TAG_CONTENT_SUBINDEX" val="2"/>
  <p:tag name="TAG_CHATSHAPE_LINK" val="sp:子标题2"/>
</p:tagLst>
</file>

<file path=ppt/tags/tag166.xml><?xml version="1.0" encoding="utf-8"?>
<p:tagLst xmlns:p="http://schemas.openxmlformats.org/presentationml/2006/main">
  <p:tag name="YOO_CHATSHAPE_TYPE" val="YOO_CHATSHAPE_CHILDCONTENT"/>
  <p:tag name="TAG_CONTENT_GROUPINDEX" val="2"/>
  <p:tag name="TAG_CONTENT_GROUPCOUNT" val="3"/>
  <p:tag name="TAG_CONTENT_DIAGRAM_INDEX" val="1c14ce62a9104fef8e56624dadfb2084"/>
  <p:tag name="TAG_CONTENT_SUBINDEX" val="2"/>
  <p:tag name="TAG_CITE_ID" val="50"/>
</p:tagLst>
</file>

<file path=ppt/tags/tag167.xml><?xml version="1.0" encoding="utf-8"?>
<p:tagLst xmlns:p="http://schemas.openxmlformats.org/presentationml/2006/main">
  <p:tag name="YOO_CHATSHAPE_TYPE" val="YOO_CHATSHAPE_CHILDTITLE"/>
  <p:tag name="TAG_CONTENT_GROUPINDEX" val="2"/>
  <p:tag name="TAG_CONTENT_GROUPCOUNT" val="3"/>
  <p:tag name="TAG_CONTENT_DIAGRAM_INDEX" val="1c14ce62a9104fef8e56624dadfb2084"/>
  <p:tag name="TAG_CONTENT_SUBINDEX" val="2"/>
</p:tagLst>
</file>

<file path=ppt/tags/tag168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1c14ce62a9104fef8e56624dadfb2084"/>
  <p:tag name="TAG_CONTENT_SUBINDEX" val="3"/>
  <p:tag name="TAG_CHATSHAPE_LINK" val="sp:子标题3"/>
</p:tagLst>
</file>

<file path=ppt/tags/tag169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1c14ce62a9104fef8e56624dadfb2084"/>
  <p:tag name="TAG_CONTENT_SUBINDEX" val="3"/>
  <p:tag name="TAG_CHATSHAPE_LINK" val="sp:子标题3"/>
</p:tagLst>
</file>

<file path=ppt/tags/tag170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1c14ce62a9104fef8e56624dadfb2084"/>
  <p:tag name="TAG_CONTENT_SUBINDEX" val="3"/>
  <p:tag name="TAG_CHATSHAPE_LINK" val="sp:子标题3"/>
</p:tagLst>
</file>

<file path=ppt/tags/tag171.xml><?xml version="1.0" encoding="utf-8"?>
<p:tagLst xmlns:p="http://schemas.openxmlformats.org/presentationml/2006/main">
  <p:tag name="YOO_CHATSHAPE_TYPE" val="YOO_CHATSHAPE_CHILDCONTENT"/>
  <p:tag name="TAG_CONTENT_GROUPINDEX" val="3"/>
  <p:tag name="TAG_CONTENT_GROUPCOUNT" val="3"/>
  <p:tag name="TAG_CONTENT_DIAGRAM_INDEX" val="1c14ce62a9104fef8e56624dadfb2084"/>
  <p:tag name="TAG_CONTENT_SUBINDEX" val="3"/>
  <p:tag name="TAG_CITE_ID" val="20,21"/>
</p:tagLst>
</file>

<file path=ppt/tags/tag172.xml><?xml version="1.0" encoding="utf-8"?>
<p:tagLst xmlns:p="http://schemas.openxmlformats.org/presentationml/2006/main">
  <p:tag name="YOO_CHATSHAPE_TYPE" val="YOO_CHATSHAPE_CHILDTITLE"/>
  <p:tag name="TAG_CONTENT_GROUPINDEX" val="3"/>
  <p:tag name="TAG_CONTENT_GROUPCOUNT" val="3"/>
  <p:tag name="TAG_CONTENT_DIAGRAM_INDEX" val="1c14ce62a9104fef8e56624dadfb2084"/>
  <p:tag name="TAG_CONTENT_SUBINDEX" val="3"/>
</p:tagLst>
</file>

<file path=ppt/tags/tag173.xml><?xml version="1.0" encoding="utf-8"?>
<p:tagLst xmlns:p="http://schemas.openxmlformats.org/presentationml/2006/main">
  <p:tag name="YOO_CHATSHAPE_TYPE" val="YOO_CHATSHAPE_CHILDDECORATE"/>
  <p:tag name="TAG_CONTENT_GROUPINDEX" val="1"/>
  <p:tag name="TAG_CONTENT_GROUPCOUNT" val="3"/>
  <p:tag name="TAG_CONTENT_DIAGRAM_INDEX" val="1c14ce62a9104fef8e56624dadfb2084"/>
  <p:tag name="TAG_CONTENT_SUBINDEX" val="1"/>
  <p:tag name="TAG_CHATSHAPE_LINK" val="sp:子标题1"/>
</p:tagLst>
</file>

<file path=ppt/tags/tag174.xml><?xml version="1.0" encoding="utf-8"?>
<p:tagLst xmlns:p="http://schemas.openxmlformats.org/presentationml/2006/main">
  <p:tag name="YOO_CHATSHAPE_TYPE" val="YOO_CHATSHAPE_ICON"/>
  <p:tag name="TAG_CONTENT_GROUPINDEX" val="1"/>
  <p:tag name="TAG_CONTENT_GROUPCOUNT" val="3"/>
  <p:tag name="TAG_CONTENT_DIAGRAM_INDEX" val="1c14ce62a9104fef8e56624dadfb2084"/>
  <p:tag name="TAG_CONTENT_SUBINDEX" val="1"/>
</p:tagLst>
</file>

<file path=ppt/tags/tag175.xml><?xml version="1.0" encoding="utf-8"?>
<p:tagLst xmlns:p="http://schemas.openxmlformats.org/presentationml/2006/main">
  <p:tag name="YOO_CHATSHAPE_TYPE" val="YOO_CHATSHAPE_CHILDDECORATE"/>
  <p:tag name="TAG_CONTENT_GROUPINDEX" val="2"/>
  <p:tag name="TAG_CONTENT_GROUPCOUNT" val="3"/>
  <p:tag name="TAG_CONTENT_DIAGRAM_INDEX" val="1c14ce62a9104fef8e56624dadfb2084"/>
  <p:tag name="TAG_CONTENT_SUBINDEX" val="2"/>
  <p:tag name="TAG_CHATSHAPE_LINK" val="sp:子标题2"/>
</p:tagLst>
</file>

<file path=ppt/tags/tag176.xml><?xml version="1.0" encoding="utf-8"?>
<p:tagLst xmlns:p="http://schemas.openxmlformats.org/presentationml/2006/main">
  <p:tag name="YOO_CHATSHAPE_TYPE" val="YOO_CHATSHAPE_ICON"/>
  <p:tag name="TAG_CONTENT_GROUPINDEX" val="2"/>
  <p:tag name="TAG_CONTENT_GROUPCOUNT" val="3"/>
  <p:tag name="TAG_CONTENT_DIAGRAM_INDEX" val="1c14ce62a9104fef8e56624dadfb2084"/>
  <p:tag name="TAG_CONTENT_SUBINDEX" val="2"/>
</p:tagLst>
</file>

<file path=ppt/tags/tag177.xml><?xml version="1.0" encoding="utf-8"?>
<p:tagLst xmlns:p="http://schemas.openxmlformats.org/presentationml/2006/main">
  <p:tag name="YOO_CHATSHAPE_TYPE" val="YOO_CHATSHAPE_CHILDDECORATE"/>
  <p:tag name="TAG_CONTENT_GROUPINDEX" val="3"/>
  <p:tag name="TAG_CONTENT_GROUPCOUNT" val="3"/>
  <p:tag name="TAG_CONTENT_DIAGRAM_INDEX" val="1c14ce62a9104fef8e56624dadfb2084"/>
  <p:tag name="TAG_CONTENT_SUBINDEX" val="3"/>
  <p:tag name="TAG_CHATSHAPE_LINK" val="sp:子标题3"/>
</p:tagLst>
</file>

<file path=ppt/tags/tag178.xml><?xml version="1.0" encoding="utf-8"?>
<p:tagLst xmlns:p="http://schemas.openxmlformats.org/presentationml/2006/main">
  <p:tag name="YOO_CHATSHAPE_TYPE" val="YOO_CHATSHAPE_ICON"/>
  <p:tag name="TAG_CONTENT_GROUPINDEX" val="3"/>
  <p:tag name="TAG_CONTENT_GROUPCOUNT" val="3"/>
  <p:tag name="TAG_CONTENT_DIAGRAM_INDEX" val="1c14ce62a9104fef8e56624dadfb2084"/>
  <p:tag name="TAG_CONTENT_SUBINDEX" val="3"/>
</p:tagLst>
</file>

<file path=ppt/tags/tag179.xml><?xml version="1.0" encoding="utf-8"?>
<p:tagLst xmlns:p="http://schemas.openxmlformats.org/presentationml/2006/main">
  <p:tag name="YOO_CHATPAGE_TYPE" val="TAG_CHATPAGE_MULTCONTENT"/>
</p:tagLst>
</file>

<file path=ppt/tags/tag180.xml><?xml version="1.0" encoding="utf-8"?>
<p:tagLst xmlns:p="http://schemas.openxmlformats.org/presentationml/2006/main">
  <p:tag name="YOO_CHATSHAPE_TYPE" val="YOO_CHATSHAPE_IMAGE"/>
  <p:tag name="TAG_CONTENT_SUBINDEX" val="18"/>
</p:tagLst>
</file>

<file path=ppt/tags/tag181.xml><?xml version="1.0" encoding="utf-8"?>
<p:tagLst xmlns:p="http://schemas.openxmlformats.org/presentationml/2006/main">
  <p:tag name="YOO_CHATSHAPE_TYPE" val="YOO_CHATSHAPE_DECORATION"/>
</p:tagLst>
</file>

<file path=ppt/tags/tag182.xml><?xml version="1.0" encoding="utf-8"?>
<p:tagLst xmlns:p="http://schemas.openxmlformats.org/presentationml/2006/main">
  <p:tag name="YOO_CHATSHAPE_TYPE" val="YOO_CHATSHAPE_DECORATION"/>
</p:tagLst>
</file>

<file path=ppt/tags/tag183.xml><?xml version="1.0" encoding="utf-8"?>
<p:tagLst xmlns:p="http://schemas.openxmlformats.org/presentationml/2006/main">
  <p:tag name="YOO_CHATSHAPE_TYPE" val="YOO_CHATSHAPE_DECORATION"/>
</p:tagLst>
</file>

<file path=ppt/tags/tag184.xml><?xml version="1.0" encoding="utf-8"?>
<p:tagLst xmlns:p="http://schemas.openxmlformats.org/presentationml/2006/main">
  <p:tag name="YOO_CHATSHAPE_TYPE" val="YOO_CHATSHAPE_AUTHOR"/>
</p:tagLst>
</file>

<file path=ppt/tags/tag185.xml><?xml version="1.0" encoding="utf-8"?>
<p:tagLst xmlns:p="http://schemas.openxmlformats.org/presentationml/2006/main">
  <p:tag name="YOO_CHATSHAPE_TYPE" val="YOO_CHATSHAPE_DATE"/>
</p:tagLst>
</file>

<file path=ppt/tags/tag186.xml><?xml version="1.0" encoding="utf-8"?>
<p:tagLst xmlns:p="http://schemas.openxmlformats.org/presentationml/2006/main">
  <p:tag name="YOO_CHATSHAPE_TYPE" val="YOO_CHATSHAPE_SUBTITLE"/>
  <p:tag name="TAG_CHATSHAPE_LINK" val="sp:翻译"/>
</p:tagLst>
</file>

<file path=ppt/tags/tag187.xml><?xml version="1.0" encoding="utf-8"?>
<p:tagLst xmlns:p="http://schemas.openxmlformats.org/presentationml/2006/main">
  <p:tag name="YOO_CHATSHAPE_TYPE" val="YOO_CHATSHAPE_TITLE"/>
</p:tagLst>
</file>

<file path=ppt/tags/tag188.xml><?xml version="1.0" encoding="utf-8"?>
<p:tagLst xmlns:p="http://schemas.openxmlformats.org/presentationml/2006/main">
  <p:tag name="TAG_CHATPPT" val="ChatPPT"/>
  <p:tag name="YOO_CHATPAGE_TYPE" val="TAG_CHATPAGE_END"/>
</p:tagLst>
</file>

<file path=ppt/tags/tag189.xml><?xml version="1.0" encoding="utf-8"?>
<p:tagLst xmlns:p="http://schemas.openxmlformats.org/presentationml/2006/main">
  <p:tag name="TAG_CHATPPT" val="ChatPPT"/>
  <p:tag name="TAG_STREAM_ID" val="ETFcgB37"/>
  <p:tag name="LANGUAGE" val="zh-CN"/>
  <p:tag name="TAG_PRESENTATION_STYLE" val="极简风"/>
  <p:tag name="TAG_SCENE" val="normal"/>
  <p:tag name="TAG_JSON2PPT_URL" val="https://file.static.yoojober.cn/chatppt/file/editor_json/20260116/4187059/696a2928d2d75.json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FFFFFF"/>
      </a:dk1>
      <a:lt1>
        <a:srgbClr val="0C0C0C"/>
      </a:lt1>
      <a:dk2>
        <a:srgbClr val="FFFFFF"/>
      </a:dk2>
      <a:lt2>
        <a:srgbClr val="E5E5E5"/>
      </a:lt2>
      <a:accent1>
        <a:srgbClr val="000000"/>
      </a:accent1>
      <a:accent2>
        <a:srgbClr val="808080"/>
      </a:accent2>
      <a:accent3>
        <a:srgbClr val="A5A5A5"/>
      </a:accent3>
      <a:accent4>
        <a:srgbClr val="B2B2B2"/>
      </a:accent4>
      <a:accent5>
        <a:srgbClr val="4D4D4D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bg1"/>
        </a:solidFill>
        <a:gradFill rotWithShape="1">
          <a:gsLst>
            <a:gs pos="0">
              <a:schemeClr val="bg1">
                <a:lumMod val="110000"/>
                <a:satMod val="105000"/>
                <a:tint val="67000"/>
              </a:schemeClr>
            </a:gs>
            <a:gs pos="50000">
              <a:schemeClr val="bg1">
                <a:lumMod val="105000"/>
                <a:satMod val="103000"/>
                <a:tint val="73000"/>
              </a:schemeClr>
            </a:gs>
            <a:gs pos="100000">
              <a:schemeClr val="bg1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bg1">
                <a:satMod val="103000"/>
                <a:lumMod val="102000"/>
                <a:tint val="94000"/>
              </a:schemeClr>
            </a:gs>
            <a:gs pos="50000">
              <a:schemeClr val="bg1">
                <a:satMod val="110000"/>
                <a:lumMod val="100000"/>
                <a:shade val="100000"/>
              </a:schemeClr>
            </a:gs>
            <a:gs pos="100000">
              <a:schemeClr val="bg1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bg1"/>
          </a:solidFill>
          <a:prstDash val="solid"/>
          <a:miter lim="800000"/>
        </a:ln>
        <a:ln w="19050" cap="flat" cmpd="sng" algn="ctr">
          <a:solidFill>
            <a:schemeClr val="bg1"/>
          </a:solidFill>
          <a:prstDash val="solid"/>
          <a:miter lim="800000"/>
        </a:ln>
        <a:ln w="25400" cap="flat" cmpd="sng" algn="ctr">
          <a:solidFill>
            <a:schemeClr val="bg1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2495</Words>
  <Application>WPS 演示</Application>
  <PresentationFormat>宽屏</PresentationFormat>
  <Paragraphs>164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幼圆</vt:lpstr>
      <vt:lpstr>JiangchengRhythmBlack</vt:lpstr>
      <vt:lpstr>JetBrainsMono NF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BIYOO Team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ChatPPT</dc:creator>
  <cp:lastModifiedBy>花</cp:lastModifiedBy>
  <cp:revision>3</cp:revision>
  <dcterms:created xsi:type="dcterms:W3CDTF">2024-12-10T04:03:00Z</dcterms:created>
  <dcterms:modified xsi:type="dcterms:W3CDTF">2026-01-16T12:15:06Z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86923201B14B41938E841AAA13DBDED7_13</vt:lpwstr>
  </property>
  <property fmtid="{D5CDD505-2E9C-101B-9397-08002B2CF9AE}" pid="3" name="KSOProductBuildVer">
    <vt:lpwstr>2052-12.1.0.24657</vt:lpwstr>
  </property>
</Properties>
</file>